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Bonjour. Je m'appelle Mouad Ettahiri. Je vous présente mon projet de fin d'études, soutenu le 14 septembre 2026, réalisé à l'EMSI Rabat, option MIAGE, au Ministère de l'Économie et des Finances, Direction des Affaires administratives et générales. Le titre officiel : conception et développement d'une application pour l'automatisation de la gestion des concours de recrutement. Concrètement : une application web pour importer les candidats, les répartir automatiquement dans les salles, puis générer et envoyer les convocations.</a:t>
            </a:r>
          </a:p>
          <a:p>
            <a:r>
              <a:t>Encadrement : Pr. Imane Hilal (école) et M. Tarik Lakhbizi (stage).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Le fil est celui du rapport, condensé pour 30 minutes. Je commence par le pourquoi (contexte MEF et problématique), puis le comment on a travaillé (objectifs, cascade, Gantt), ensuite la conception, l'architecture en microservices, et le cœur de l'exposé : ce qui a été réellement développé. Je clos par les apports, les limites et les perspectives.</a:t>
            </a:r>
          </a:p>
          <a:p>
            <a:r>
              <a:t>Annonce : « Je reste à votre disposition pour les questions à la fin.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15 s.</a:t>
            </a:r>
          </a:p>
          <a:p>
            <a:r>
              <a:t>Le stage se déroule au Ministère de l'Économie et des Finances, à Rabat. C'est l'administration chargée de la politique économique et financière de l'État : budget, fiscalité, contrôle des finances publiques. L'effectif est important, et le Ministère s'est engagé dans la digitalisation de ses métiers, y compris la gestion des ressources humaines. Mon projet s'inscrit dans cette modernisation : dématérialiser l'organisation des concours de recrutement.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Le stage a été effectué à la DAAG. Cette direction pilote les RH, le recrutement et les systèmes d'information. L'organisation des concours — affectation aux salles et convocations — est donc bien son métier. D'où le besoin d'un outil pour assister les gestionnaires, pas pour remplacer le contrôle humain.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30 s.</a:t>
            </a:r>
          </a:p>
          <a:p>
            <a:r>
              <a:t>Le concours ne s'arrête pas à la liste des admis. Les gestionnaires doivent encore placer chaque candidat dans un centre, un établissement et une salle, puis produire et envoyer les convocations. Aujourd'hui, cela reste souvent manuel : Excel, fichiers, envois un par un. Quatre conséquences : erreurs d'affectation, centres trop éloignés, convocations incomplètes, et aucune vision d'ensemble pour le responsable.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15 s.</a:t>
            </a:r>
          </a:p>
          <a:p>
            <a:r>
              <a:t>La question de recherche, telle que formulée dans le rapport : comment concevoir une plateforme qui dématérialise le processus, automatise la répartition, fiabilise les convocations, et donne une vision claire aux gestionnaires. Quatre axes de réponse, que je détaillerai ensuite : centraliser les données, automatiser l'affectation, notifier par PDF et e-mail, piloter via un tableau de bord. Le contrôle humain est conservé : répartition manuelle possible, aperçu avant envoi.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L'objectif général : une plateforme pour assister les gestionnaires, pas pour remplacer leur contrôle. Sept objectifs concrets, dans l'ordre du métier : d'abord le référentiel (concours et lieux), puis l'import Excel des candidats, ensuite le moteur de répartition, les convocations PDF et e-mail, le tableau de bord, la distinction des rôles, et enfin une architecture en microservices pour que chaque brique reste maintenable. Il n'y a pas d'espace candidat ni d'inscription en ligne : l'outil est destiné aux agents.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Pourquoi la cascade et pas l'agile ? Le cahier des charges était posé dès le départ, et j'étais seul : il valait mieux figer la conception UML avant le code. Quatre phases, les mêmes que le Gantt : CDC, conception, réalisation, tests. À chaque livrable, je présentais à l'encadrant ; s'il validait, je passais à la suite, sinon je corrigeais. Ce n'est pas un déploiement en production : la dernière phase, ce sont les tests et les retours de l'encadrant, pas une mise en service au Ministère.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Le stage dure cinq mois et demi. Deux semaines de cahier des charges (6–19 mars), un mois et une semaine de conception UML (20 mars – 26 avril) : rien n'est codé tant que les diagrammes ne sont pas validés. Puis trois mois de réalisation (27 avril – 26 juillet) : authentification, concours et lieux, import, répartition, convocations, tableau de bord. Enfin trois semaines de tests et corrections (27 juillet – 17 août). C'est volontairement linéaire : on ne commence pas le code pendant la conception.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Quatre acteurs, deux seulement se connectent. Le gestionnaire pilote tout le métier. L'administrateur voit les mêmes écrans mais sans bouton d'écriture, et il gère les comptes. Le système, c'est le moteur : répartition, PDF, e-mails. Le candidat reçoit sa convocation ; il n'a pas d'espace dans l'application. Toute action métier suppose une 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10 s.</a:t>
            </a:r>
          </a:p>
          <a:p>
            <a:r>
              <a:t>Le périmètre est volontairement borné : on organise l'épreuve, on ne recrute pas de A à Z. Les listes d'admis existent déjà ; on les importe. Pas d'espace candidat, pas de notes, pas de mobile. Si le jury demande pourquoi : le besoin du Ministère, c'est l'affectation et les convocations, pas un portail d'inscription. C'est aussi pour tenir le délai de trois mois.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C'est le fil que le gestionnaire suit dans l'application. L'ordre n'est pas libre : d'abord les lieux et les concours, ensuite l'import, ensuite seulement la répartition, et les convocations uniquement pour les candidats entièrement affectés. Le tableau de bord sert de contrôle entre la répartition et l'envoi.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Le diagramme général, produit avec PlantUML et validé avant le code. Je retiens trois points pour le jury. Un : le gestionnaire a tous les cas d'écriture, l'administrateur n'a que la lecture et « Gérer les comptes ». Deux : chaque cas « include » S'authentifier — ce n'est pas décoratif, c'est une règle. Trois : le candidat n'apparaît pas, conformément au périmètre. Les consultations (listes, dashboard, répartition) sont partagées.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30 s.</a:t>
            </a:r>
          </a:p>
          <a:p>
            <a:r>
              <a:t>Six paquets, les mêmes que les microservices plus tard : authentification, lieux, concours, candidats, répartition, convocations. Les clés métier sont naturelles : numero_inscription, numero_concours. Le point important pour le jury : pas de clé étrangère entre bases. Les pointillés, ce sont des identifiants logiques validés par HTTP. La convocation n'est pas une table de contenu : on assemble le PDF à partir du candidat affecté ; on ne stocke que l'historique d'envoi. Une salle n'a qu'un concours ; un candidat sans affectation complète n'a pas de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Le navigateur n'appelle jamais un microservice en direct. Tout passe par la gateway, qui route selon le préfixe : /auth, /api/candidats, /api/concours, etc. La gateway ne vérifie pas le JWT : c'est un reverse proxy. Chaque service a sa propre base PostgreSQL. Entre services, on n'emprunte pas la gateway : RestClient sur les ports 8081 à 8086, avec le même jeton que l'utilisateur. Pas de bus de messages, pas de découverte de services.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Deux services méritent une phrase. La répartition n'a presque pas de données métier : elle orchestre. Elle lit concours, salles, candidats, calcule en mémoire, puis écrit les affectations chez candidat-service et garde un historique chez elle. La convocation n'a que le journal d'envoi : le PDF n'est pas une table, il est assemblé si le candidat a centre + établissement + salle + place. Lier une salle à un concours met aussi à jour l'affectation du centre côté concours-service.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Le jeton est sans état : chaque service le vérifie avec le même secret HS256, au moins 32 octets. La gateway ne fait pas de sécurité métier. L'administrateur est volontairement en lecture seule sur le concours, pour séparer supervision et opération. Limite à citer si on nous interroge : pas de refresh token, pas de liste noire. Le front masque les boutons, mais c'est Spring Security qui tranche.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C'est le diagramme de séquence de la répartition, le scénario le plus architectural. Le service répartition ne possède pas les salles ni les candidats. Il lit, calcule, écrit. Les salles viennent de lieux filtrées par numero_concours, pas des affectations concours. Le calcul est régional : on privilégie un centre de la même région s'il en existe un, sinon la distance GPS. Limite : si l'écriture des affectations réussit et que l'historique échoue, on peut avoir des candidats mis à jour sans run complet. C'est assumé, tracé en ECHEC quand c'est possible.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~40 s.</a:t>
            </a:r>
          </a:p>
          <a:p>
            <a:r>
              <a:t>Je ne lis pas tous les logos. Je cite le trio : Java 17 / Spring Boot derrière une gateway, PostgreSQL une base par service, React + TypeScript devant. POI pour l'Excel, OpenPDF et Gmail pour les convocations, jsPDF et docx pour les exports côté gestionnaire. Pas de Docker dans le dépôt : lancement par scripts PowerShell.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~45 s.</a:t>
            </a:r>
          </a:p>
          <a:p>
            <a:r>
              <a:t>Premier écran : logo du Ministère, identifiant et mot de passe. Tant que la connexion n'a pas abouti, le reste de l'application est inaccessible. Le jeton part ensuite dans le sessionStorage. Je ne m'attarde pas : le jury a déjà vu le JWT.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10 s.</a:t>
            </a:r>
          </a:p>
          <a:p>
            <a:r>
              <a:t>C'est la réponse au constat « pas de vision d'ensemble ». Six indicateurs : 104 candidats, 104 affectés, 6 concours, 4 centres, 720 places, 104 convocations dont 100 envoyées et 4 échecs. Le taux d'affectation à 100 % signifie que chaque candidat a centre, établissement, salle et place. En bas : détail par concours et statut de la dernière run. Les échecs d'envoi restent visibles : on ne cache pas les problèmes.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L'ordre de saisie est celui du seed : d'abord les centres (ici Casablanca, Marrakech, Rabat, Tanger), puis les établissements, puis les salles. Casablanca : établissement Ibn Tofail, salles A, B, C à 30 places, chacune liée à un concours différent. Les concours liés apparaissent en badges. C'est ce référentiel que le moteur de répartition lira, pas une table Excel parallèle.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Les 104 candidats viennent d'un fichier Excel. Il n'y a pas de bouton « Nouveau candidat ». On peut modifier, supprimer, réinitialiser toute la liste, et affecter manuellement si besoin. Filtres par nom, ville, concours. La pastille bleue, c'est le résultat de la répartition : centre, établissement, salle, place. Exemple à citer : un candidat d'Agadir placé à Marrakech — proximité régionale, pas forcément la même ville.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30 s.</a:t>
            </a:r>
          </a:p>
          <a:p>
            <a:r>
              <a:t>Le gestionnaire clique sur « Commencer la répartition ». Le système calcule, écrit, historise. Ici l'exécution 17 : 104 candidats, 104 affectés, zéro alerte, taux 100 %. Le tableau montre ville d'origine et centre d'affectation : Oujda → Tanger, Fès → Rabat, etc. Si un candidat ne peut pas être placé, une alerte apparaît (capacité, ville inconnue, concours sans salle). On peut réinitialiser les places sans relancer, et exporter la synthèse. Rappel : un run n'est pas une transaction unique entre les six bases.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20 s.</a:t>
            </a:r>
          </a:p>
          <a:p>
            <a:r>
              <a:t>Seuls les candidats entièrement placés ont une convocation. 104 prêtes, 104 avec e-mail, 100 envois OK, 4 échecs : un échec n'arrête pas le lot. Chaque carte : centre, salle, place, date d'examen, bouton « Voir le PDF ». L'envoi passe par Gmail ; sans mot de passe d'application, l'API répond 503. Export Word / PDF de la liste côté client, distinct du PDF officiel serveur.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À gauche : le PDF réellement joint à l'e-mail. Identité, concours, date, centre, établissement, salle, place, consigne d'arriver 30 minutes avant. À droite : le même écran candidats, rôle administrateur. Badge « lecture seule », plus de boutons Importer / Modifier / Supprimer, mais un onglet Gestionnaires en plus. L'UI masque ; Spring Security interdit. Je clos la démo ici : le parcours import → répartition → convocation est bouclé.</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~45 s.</a:t>
            </a:r>
          </a:p>
          <a:p>
            <a:r>
              <a:t>Je clos sur le livrable, pas sur une mise en production. Le gestionnaire a un outil de bout en bout, avec un contrôle humain. Les tests couvrent surtout l'algorithme et les clients HTTP, pas un scénario bout-en-bout avec les six services allumés. Je le dis clairement : le Ministère ne l'a pas encore déployé.</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~50 s.</a:t>
            </a:r>
          </a:p>
          <a:p>
            <a:r>
              <a:t>Je nomme les limites avant qu'on me les pose. Pas de refresh token, répartition non transactionnelle, Gmail au lieu d'une messagerie MEF. Ensuite les suites naturelles : un petit espace candidat en consultation seulement, et un vrai déploiement, qui n'entrait pas dans la durée du stage. Je ne promets pas l'inscription en ligne : ce n'était pas le besoin.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~20 s.</a:t>
            </a:r>
          </a:p>
          <a:p>
            <a:r>
              <a:t>Merci. Je remercie Pr. Imane Hilal et M. Tarik Lakhbizi, ainsi que la DAAG. Je m'arrête ici et j'ouvre les questions. Ne pas rester debout trop longtemps sur cette slide : passer la parole au jury.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 Id="rId7" Type="http://schemas.openxmlformats.org/officeDocument/2006/relationships/image" Target="../media/image10.jp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jp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jp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jp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jp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jp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msi-logo-crop.png"/>
          <p:cNvPicPr>
            <a:picLocks noChangeAspect="1"/>
          </p:cNvPicPr>
          <p:nvPr/>
        </p:nvPicPr>
        <p:blipFill>
          <a:blip r:embed="rId2"/>
          <a:stretch>
            <a:fillRect/>
          </a:stretch>
        </p:blipFill>
        <p:spPr>
          <a:xfrm>
            <a:off x="411480" y="292608"/>
            <a:ext cx="2444231" cy="530352"/>
          </a:xfrm>
          <a:prstGeom prst="rect">
            <a:avLst/>
          </a:prstGeom>
        </p:spPr>
      </p:pic>
      <p:pic>
        <p:nvPicPr>
          <p:cNvPr id="5" name="Picture 4" descr="mef-logo.png"/>
          <p:cNvPicPr>
            <a:picLocks noChangeAspect="1"/>
          </p:cNvPicPr>
          <p:nvPr/>
        </p:nvPicPr>
        <p:blipFill>
          <a:blip r:embed="rId3"/>
          <a:stretch>
            <a:fillRect/>
          </a:stretch>
        </p:blipFill>
        <p:spPr>
          <a:xfrm>
            <a:off x="9960985" y="201168"/>
            <a:ext cx="1846663" cy="713232"/>
          </a:xfrm>
          <a:prstGeom prst="rect">
            <a:avLst/>
          </a:prstGeom>
        </p:spPr>
      </p:pic>
      <p:sp>
        <p:nvSpPr>
          <p:cNvPr id="6" name="Rectangle 5"/>
          <p:cNvSpPr/>
          <p:nvPr/>
        </p:nvSpPr>
        <p:spPr>
          <a:xfrm>
            <a:off x="0" y="1078992"/>
            <a:ext cx="12191695" cy="54864"/>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133856"/>
            <a:ext cx="12191695" cy="2286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98448"/>
            <a:ext cx="10972800" cy="256032"/>
          </a:xfrm>
          <a:prstGeom prst="rect">
            <a:avLst/>
          </a:prstGeom>
          <a:noFill/>
        </p:spPr>
        <p:txBody>
          <a:bodyPr wrap="square" anchor="t"/>
          <a:lstStyle/>
          <a:p>
            <a:pPr algn="ctr"/>
            <a:r>
              <a:rPr sz="1300" b="1" i="0">
                <a:solidFill>
                  <a:srgbClr val="008591"/>
                </a:solidFill>
                <a:latin typeface="Calibri"/>
              </a:rPr>
              <a:t>ROYAUME DU MAROC</a:t>
            </a:r>
          </a:p>
        </p:txBody>
      </p:sp>
      <p:sp>
        <p:nvSpPr>
          <p:cNvPr id="9" name="TextBox 8"/>
          <p:cNvSpPr txBox="1"/>
          <p:nvPr/>
        </p:nvSpPr>
        <p:spPr>
          <a:xfrm>
            <a:off x="640080" y="1536192"/>
            <a:ext cx="10972800" cy="365760"/>
          </a:xfrm>
          <a:prstGeom prst="rect">
            <a:avLst/>
          </a:prstGeom>
          <a:noFill/>
        </p:spPr>
        <p:txBody>
          <a:bodyPr wrap="square" anchor="t"/>
          <a:lstStyle/>
          <a:p>
            <a:pPr algn="ctr"/>
            <a:r>
              <a:rPr sz="1600" b="0" i="0">
                <a:solidFill>
                  <a:srgbClr val="0B2545"/>
                </a:solidFill>
                <a:latin typeface="Calibri"/>
              </a:rPr>
              <a:t>École Marocaine des Sciences de l'Ingénieur  ·  Campus Rabat</a:t>
            </a:r>
          </a:p>
        </p:txBody>
      </p:sp>
      <p:sp>
        <p:nvSpPr>
          <p:cNvPr id="10" name="Rounded Rectangle 9"/>
          <p:cNvSpPr/>
          <p:nvPr/>
        </p:nvSpPr>
        <p:spPr>
          <a:xfrm>
            <a:off x="3246120" y="1975104"/>
            <a:ext cx="5715000" cy="329184"/>
          </a:xfrm>
          <a:prstGeom prst="roundRect">
            <a:avLst>
              <a:gd name="adj" fmla="val 50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1975104"/>
            <a:ext cx="5715000" cy="329184"/>
          </a:xfrm>
          <a:prstGeom prst="rect">
            <a:avLst/>
          </a:prstGeom>
          <a:noFill/>
        </p:spPr>
        <p:txBody>
          <a:bodyPr wrap="square" anchor="ctr"/>
          <a:lstStyle/>
          <a:p>
            <a:pPr algn="ctr"/>
            <a:r>
              <a:rPr sz="1100" b="1" i="0">
                <a:solidFill>
                  <a:srgbClr val="FFFFFF"/>
                </a:solidFill>
                <a:latin typeface="Calibri"/>
              </a:rPr>
              <a:t>PROJET DE FIN D'ÉTUDES  ·  INGÉNIEUR D'ÉTAT  ·  14 SEPTEMBRE 2026</a:t>
            </a:r>
          </a:p>
        </p:txBody>
      </p:sp>
      <p:sp>
        <p:nvSpPr>
          <p:cNvPr id="12" name="TextBox 11"/>
          <p:cNvSpPr txBox="1"/>
          <p:nvPr/>
        </p:nvSpPr>
        <p:spPr>
          <a:xfrm>
            <a:off x="640080" y="2359152"/>
            <a:ext cx="10972800" cy="256032"/>
          </a:xfrm>
          <a:prstGeom prst="rect">
            <a:avLst/>
          </a:prstGeom>
          <a:noFill/>
        </p:spPr>
        <p:txBody>
          <a:bodyPr wrap="square" anchor="t"/>
          <a:lstStyle/>
          <a:p>
            <a:pPr algn="ctr"/>
            <a:r>
              <a:rPr sz="1400" b="0" i="0">
                <a:solidFill>
                  <a:srgbClr val="4B5563"/>
                </a:solidFill>
                <a:latin typeface="Calibri"/>
              </a:rPr>
              <a:t>Spécialité Ingénierie Informatique et Réseaux  ·  Option MIAGE</a:t>
            </a:r>
          </a:p>
        </p:txBody>
      </p:sp>
      <p:sp>
        <p:nvSpPr>
          <p:cNvPr id="13" name="TextBox 12"/>
          <p:cNvSpPr txBox="1"/>
          <p:nvPr/>
        </p:nvSpPr>
        <p:spPr>
          <a:xfrm>
            <a:off x="640080" y="2651760"/>
            <a:ext cx="10881360" cy="914400"/>
          </a:xfrm>
          <a:prstGeom prst="rect">
            <a:avLst/>
          </a:prstGeom>
          <a:noFill/>
        </p:spPr>
        <p:txBody>
          <a:bodyPr wrap="square" anchor="t"/>
          <a:lstStyle/>
          <a:p>
            <a:pPr algn="ctr"/>
            <a:r>
              <a:rPr sz="2200" b="1" i="0">
                <a:solidFill>
                  <a:srgbClr val="0B2545"/>
                </a:solidFill>
                <a:latin typeface="Calibri"/>
              </a:rPr>
              <a:t>Conception et développement d'une application pour
l'automatisation de la gestion des concours de recrutement</a:t>
            </a:r>
          </a:p>
        </p:txBody>
      </p:sp>
      <p:sp>
        <p:nvSpPr>
          <p:cNvPr id="14" name="TextBox 13"/>
          <p:cNvSpPr txBox="1"/>
          <p:nvPr/>
        </p:nvSpPr>
        <p:spPr>
          <a:xfrm>
            <a:off x="1097280" y="3584448"/>
            <a:ext cx="9966960" cy="566928"/>
          </a:xfrm>
          <a:prstGeom prst="rect">
            <a:avLst/>
          </a:prstGeom>
          <a:noFill/>
        </p:spPr>
        <p:txBody>
          <a:bodyPr wrap="square" anchor="t"/>
          <a:lstStyle/>
          <a:p>
            <a:pPr algn="ctr"/>
            <a:r>
              <a:rPr sz="1500" b="0" i="0">
                <a:solidFill>
                  <a:srgbClr val="1F2937"/>
                </a:solidFill>
                <a:latin typeface="Calibri"/>
              </a:rPr>
              <a:t>Dématérialisation de la gestion des candidatures :
import Excel, répartition automatique et convocations</a:t>
            </a:r>
          </a:p>
        </p:txBody>
      </p:sp>
      <p:sp>
        <p:nvSpPr>
          <p:cNvPr id="15" name="Rounded Rectangle 14"/>
          <p:cNvSpPr/>
          <p:nvPr/>
        </p:nvSpPr>
        <p:spPr>
          <a:xfrm>
            <a:off x="502920" y="4370832"/>
            <a:ext cx="2697480" cy="12984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4462272"/>
            <a:ext cx="2478024" cy="274320"/>
          </a:xfrm>
          <a:prstGeom prst="rect">
            <a:avLst/>
          </a:prstGeom>
          <a:noFill/>
        </p:spPr>
        <p:txBody>
          <a:bodyPr wrap="square" anchor="t"/>
          <a:lstStyle/>
          <a:p>
            <a:pPr algn="ctr"/>
            <a:r>
              <a:rPr sz="1100" b="1" i="0">
                <a:solidFill>
                  <a:srgbClr val="008591"/>
                </a:solidFill>
                <a:latin typeface="Calibri"/>
              </a:rPr>
              <a:t>Réalisé par</a:t>
            </a:r>
          </a:p>
        </p:txBody>
      </p:sp>
      <p:sp>
        <p:nvSpPr>
          <p:cNvPr id="17" name="TextBox 16"/>
          <p:cNvSpPr txBox="1"/>
          <p:nvPr/>
        </p:nvSpPr>
        <p:spPr>
          <a:xfrm>
            <a:off x="612648" y="4736592"/>
            <a:ext cx="2478024" cy="804672"/>
          </a:xfrm>
          <a:prstGeom prst="rect">
            <a:avLst/>
          </a:prstGeom>
          <a:noFill/>
        </p:spPr>
        <p:txBody>
          <a:bodyPr wrap="square" anchor="t"/>
          <a:lstStyle/>
          <a:p>
            <a:pPr algn="ctr"/>
            <a:r>
              <a:rPr sz="1400" b="1" i="0">
                <a:solidFill>
                  <a:srgbClr val="0B2545"/>
                </a:solidFill>
                <a:latin typeface="Calibri"/>
              </a:rPr>
              <a:t>ETTAHIRI Mouad</a:t>
            </a:r>
          </a:p>
        </p:txBody>
      </p:sp>
      <p:sp>
        <p:nvSpPr>
          <p:cNvPr id="18" name="Rounded Rectangle 17"/>
          <p:cNvSpPr/>
          <p:nvPr/>
        </p:nvSpPr>
        <p:spPr>
          <a:xfrm>
            <a:off x="3364992" y="4370832"/>
            <a:ext cx="2697480" cy="12984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4462272"/>
            <a:ext cx="2478024" cy="274320"/>
          </a:xfrm>
          <a:prstGeom prst="rect">
            <a:avLst/>
          </a:prstGeom>
          <a:noFill/>
        </p:spPr>
        <p:txBody>
          <a:bodyPr wrap="square" anchor="t"/>
          <a:lstStyle/>
          <a:p>
            <a:pPr algn="ctr"/>
            <a:r>
              <a:rPr sz="1100" b="1" i="0">
                <a:solidFill>
                  <a:srgbClr val="008591"/>
                </a:solidFill>
                <a:latin typeface="Calibri"/>
              </a:rPr>
              <a:t>Tuteur de l'école</a:t>
            </a:r>
          </a:p>
        </p:txBody>
      </p:sp>
      <p:sp>
        <p:nvSpPr>
          <p:cNvPr id="20" name="TextBox 19"/>
          <p:cNvSpPr txBox="1"/>
          <p:nvPr/>
        </p:nvSpPr>
        <p:spPr>
          <a:xfrm>
            <a:off x="3474720" y="4736592"/>
            <a:ext cx="2478024" cy="804672"/>
          </a:xfrm>
          <a:prstGeom prst="rect">
            <a:avLst/>
          </a:prstGeom>
          <a:noFill/>
        </p:spPr>
        <p:txBody>
          <a:bodyPr wrap="square" anchor="t"/>
          <a:lstStyle/>
          <a:p>
            <a:pPr algn="ctr"/>
            <a:r>
              <a:rPr sz="1400" b="1" i="0">
                <a:solidFill>
                  <a:srgbClr val="0B2545"/>
                </a:solidFill>
                <a:latin typeface="Calibri"/>
              </a:rPr>
              <a:t>Pr. Imane Hilal</a:t>
            </a:r>
          </a:p>
        </p:txBody>
      </p:sp>
      <p:sp>
        <p:nvSpPr>
          <p:cNvPr id="21" name="Rounded Rectangle 20"/>
          <p:cNvSpPr/>
          <p:nvPr/>
        </p:nvSpPr>
        <p:spPr>
          <a:xfrm>
            <a:off x="6227064" y="4370832"/>
            <a:ext cx="2697480" cy="12984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4462272"/>
            <a:ext cx="2478024" cy="274320"/>
          </a:xfrm>
          <a:prstGeom prst="rect">
            <a:avLst/>
          </a:prstGeom>
          <a:noFill/>
        </p:spPr>
        <p:txBody>
          <a:bodyPr wrap="square" anchor="t"/>
          <a:lstStyle/>
          <a:p>
            <a:pPr algn="ctr"/>
            <a:r>
              <a:rPr sz="1100" b="1" i="0">
                <a:solidFill>
                  <a:srgbClr val="008591"/>
                </a:solidFill>
                <a:latin typeface="Calibri"/>
              </a:rPr>
              <a:t>Tuteur de stage</a:t>
            </a:r>
          </a:p>
        </p:txBody>
      </p:sp>
      <p:sp>
        <p:nvSpPr>
          <p:cNvPr id="23" name="TextBox 22"/>
          <p:cNvSpPr txBox="1"/>
          <p:nvPr/>
        </p:nvSpPr>
        <p:spPr>
          <a:xfrm>
            <a:off x="6336792" y="4736592"/>
            <a:ext cx="2478024" cy="804672"/>
          </a:xfrm>
          <a:prstGeom prst="rect">
            <a:avLst/>
          </a:prstGeom>
          <a:noFill/>
        </p:spPr>
        <p:txBody>
          <a:bodyPr wrap="square" anchor="t"/>
          <a:lstStyle/>
          <a:p>
            <a:pPr algn="ctr"/>
            <a:r>
              <a:rPr sz="1400" b="1" i="0">
                <a:solidFill>
                  <a:srgbClr val="0B2545"/>
                </a:solidFill>
                <a:latin typeface="Calibri"/>
              </a:rPr>
              <a:t>M. Tarik Lakhbizi</a:t>
            </a:r>
          </a:p>
        </p:txBody>
      </p:sp>
      <p:sp>
        <p:nvSpPr>
          <p:cNvPr id="24" name="Rounded Rectangle 23"/>
          <p:cNvSpPr/>
          <p:nvPr/>
        </p:nvSpPr>
        <p:spPr>
          <a:xfrm>
            <a:off x="9089136" y="4370832"/>
            <a:ext cx="2697480" cy="12984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4" y="4462272"/>
            <a:ext cx="2478024" cy="274320"/>
          </a:xfrm>
          <a:prstGeom prst="rect">
            <a:avLst/>
          </a:prstGeom>
          <a:noFill/>
        </p:spPr>
        <p:txBody>
          <a:bodyPr wrap="square" anchor="t"/>
          <a:lstStyle/>
          <a:p>
            <a:pPr algn="ctr"/>
            <a:r>
              <a:rPr sz="1100" b="1" i="0">
                <a:solidFill>
                  <a:srgbClr val="008591"/>
                </a:solidFill>
                <a:latin typeface="Calibri"/>
              </a:rPr>
              <a:t>Organisme d'accueil</a:t>
            </a:r>
          </a:p>
        </p:txBody>
      </p:sp>
      <p:sp>
        <p:nvSpPr>
          <p:cNvPr id="26" name="TextBox 25"/>
          <p:cNvSpPr txBox="1"/>
          <p:nvPr/>
        </p:nvSpPr>
        <p:spPr>
          <a:xfrm>
            <a:off x="9198864" y="4736592"/>
            <a:ext cx="2478024" cy="804672"/>
          </a:xfrm>
          <a:prstGeom prst="rect">
            <a:avLst/>
          </a:prstGeom>
          <a:noFill/>
        </p:spPr>
        <p:txBody>
          <a:bodyPr wrap="square" anchor="t"/>
          <a:lstStyle/>
          <a:p>
            <a:pPr algn="ctr"/>
            <a:r>
              <a:rPr sz="1400" b="1" i="0">
                <a:solidFill>
                  <a:srgbClr val="0B2545"/>
                </a:solidFill>
                <a:latin typeface="Calibri"/>
              </a:rPr>
              <a:t>Ministère de l'Économie
et des Finances</a:t>
            </a:r>
          </a:p>
        </p:txBody>
      </p:sp>
      <p:sp>
        <p:nvSpPr>
          <p:cNvPr id="27" name="Rectangle 26"/>
          <p:cNvSpPr/>
          <p:nvPr/>
        </p:nvSpPr>
        <p:spPr>
          <a:xfrm>
            <a:off x="0" y="6355080"/>
            <a:ext cx="12191695" cy="50292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0" y="6355080"/>
            <a:ext cx="12191695" cy="502920"/>
          </a:xfrm>
          <a:prstGeom prst="rect">
            <a:avLst/>
          </a:prstGeom>
          <a:noFill/>
        </p:spPr>
        <p:txBody>
          <a:bodyPr wrap="square" anchor="ctr"/>
          <a:lstStyle/>
          <a:p>
            <a:pPr algn="ctr"/>
            <a:r>
              <a:rPr sz="1400" b="1" i="0">
                <a:solidFill>
                  <a:srgbClr val="FFFFFF"/>
                </a:solidFill>
                <a:latin typeface="Calibri"/>
              </a:rPr>
              <a:t>Soutenance le 14 septembre 2026   ·   Année universitaire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57200" y="658368"/>
            <a:ext cx="10972800" cy="384048"/>
          </a:xfrm>
          <a:prstGeom prst="rect">
            <a:avLst/>
          </a:prstGeom>
          <a:noFill/>
        </p:spPr>
        <p:txBody>
          <a:bodyPr wrap="square" anchor="t"/>
          <a:lstStyle/>
          <a:p>
            <a:pPr algn="l"/>
            <a:r>
              <a:rPr sz="2800" b="1" i="0">
                <a:solidFill>
                  <a:srgbClr val="0B2545"/>
                </a:solidFill>
                <a:latin typeface="Calibri"/>
              </a:rPr>
              <a:t>Plan de la présentation</a:t>
            </a:r>
          </a:p>
        </p:txBody>
      </p:sp>
      <p:sp>
        <p:nvSpPr>
          <p:cNvPr id="8" name="TextBox 7"/>
          <p:cNvSpPr txBox="1"/>
          <p:nvPr/>
        </p:nvSpPr>
        <p:spPr>
          <a:xfrm>
            <a:off x="457200" y="1042415"/>
            <a:ext cx="10972800" cy="274320"/>
          </a:xfrm>
          <a:prstGeom prst="rect">
            <a:avLst/>
          </a:prstGeom>
          <a:noFill/>
        </p:spPr>
        <p:txBody>
          <a:bodyPr wrap="square" anchor="t"/>
          <a:lstStyle/>
          <a:p>
            <a:pPr algn="l"/>
            <a:r>
              <a:rPr sz="1400" b="0" i="0">
                <a:solidFill>
                  <a:srgbClr val="4B5563"/>
                </a:solidFill>
                <a:latin typeface="Calibri"/>
              </a:rPr>
              <a:t>Exposé de 30 minutes  ·  les questions du jury viennent ensuite  ·  14 septembre 2026</a:t>
            </a:r>
          </a:p>
        </p:txBody>
      </p:sp>
      <p:sp>
        <p:nvSpPr>
          <p:cNvPr id="9" name="Rounded Rectangle 8"/>
          <p:cNvSpPr/>
          <p:nvPr/>
        </p:nvSpPr>
        <p:spPr>
          <a:xfrm>
            <a:off x="411480" y="1481328"/>
            <a:ext cx="3611880" cy="2121408"/>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481328"/>
            <a:ext cx="109728" cy="2121408"/>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7512" y="168249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682496"/>
            <a:ext cx="502920" cy="502920"/>
          </a:xfrm>
          <a:prstGeom prst="rect">
            <a:avLst/>
          </a:prstGeom>
          <a:noFill/>
        </p:spPr>
        <p:txBody>
          <a:bodyPr wrap="square" anchor="ctr"/>
          <a:lstStyle/>
          <a:p>
            <a:pPr algn="ctr"/>
            <a:r>
              <a:rPr sz="1400" b="1" i="0">
                <a:solidFill>
                  <a:srgbClr val="FFFFFF"/>
                </a:solidFill>
                <a:latin typeface="Calibri"/>
              </a:rPr>
              <a:t>01</a:t>
            </a:r>
          </a:p>
        </p:txBody>
      </p:sp>
      <p:sp>
        <p:nvSpPr>
          <p:cNvPr id="13" name="Rounded Rectangle 12"/>
          <p:cNvSpPr/>
          <p:nvPr/>
        </p:nvSpPr>
        <p:spPr>
          <a:xfrm>
            <a:off x="2651760" y="1737360"/>
            <a:ext cx="1170432" cy="347472"/>
          </a:xfrm>
          <a:prstGeom prst="roundRect">
            <a:avLst>
              <a:gd name="adj" fmla="val 50000"/>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1737360"/>
            <a:ext cx="1170432" cy="347472"/>
          </a:xfrm>
          <a:prstGeom prst="rect">
            <a:avLst/>
          </a:prstGeom>
          <a:noFill/>
        </p:spPr>
        <p:txBody>
          <a:bodyPr wrap="square" anchor="ctr"/>
          <a:lstStyle/>
          <a:p>
            <a:pPr algn="ctr"/>
            <a:r>
              <a:rPr sz="1200" b="1" i="0">
                <a:solidFill>
                  <a:srgbClr val="FFFFFF"/>
                </a:solidFill>
                <a:latin typeface="Calibri"/>
              </a:rPr>
              <a:t>5 min</a:t>
            </a:r>
          </a:p>
        </p:txBody>
      </p:sp>
      <p:sp>
        <p:nvSpPr>
          <p:cNvPr id="15" name="TextBox 14"/>
          <p:cNvSpPr txBox="1"/>
          <p:nvPr/>
        </p:nvSpPr>
        <p:spPr>
          <a:xfrm>
            <a:off x="667512" y="2350008"/>
            <a:ext cx="3154680" cy="502920"/>
          </a:xfrm>
          <a:prstGeom prst="rect">
            <a:avLst/>
          </a:prstGeom>
          <a:noFill/>
        </p:spPr>
        <p:txBody>
          <a:bodyPr wrap="square" anchor="t"/>
          <a:lstStyle/>
          <a:p>
            <a:pPr algn="l"/>
            <a:r>
              <a:rPr sz="1600" b="1" i="0">
                <a:solidFill>
                  <a:srgbClr val="0B2545"/>
                </a:solidFill>
                <a:latin typeface="Calibri"/>
              </a:rPr>
              <a:t>Contexte et problématique</a:t>
            </a:r>
          </a:p>
        </p:txBody>
      </p:sp>
      <p:sp>
        <p:nvSpPr>
          <p:cNvPr id="16" name="TextBox 15"/>
          <p:cNvSpPr txBox="1"/>
          <p:nvPr/>
        </p:nvSpPr>
        <p:spPr>
          <a:xfrm>
            <a:off x="667512" y="2834640"/>
            <a:ext cx="3154680" cy="594360"/>
          </a:xfrm>
          <a:prstGeom prst="rect">
            <a:avLst/>
          </a:prstGeom>
          <a:noFill/>
        </p:spPr>
        <p:txBody>
          <a:bodyPr wrap="square" anchor="t"/>
          <a:lstStyle/>
          <a:p>
            <a:pPr algn="l"/>
            <a:r>
              <a:rPr sz="1300" b="0" i="0">
                <a:solidFill>
                  <a:srgbClr val="4B5563"/>
                </a:solidFill>
                <a:latin typeface="Calibri"/>
              </a:rPr>
              <a:t>MEF, constat manuel, question de recherche</a:t>
            </a:r>
          </a:p>
        </p:txBody>
      </p:sp>
      <p:sp>
        <p:nvSpPr>
          <p:cNvPr id="17" name="Rounded Rectangle 16"/>
          <p:cNvSpPr/>
          <p:nvPr/>
        </p:nvSpPr>
        <p:spPr>
          <a:xfrm>
            <a:off x="4251960" y="1481328"/>
            <a:ext cx="3611880" cy="2121408"/>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1481328"/>
            <a:ext cx="109728" cy="2121408"/>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07992" y="168249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7992" y="1682496"/>
            <a:ext cx="502920" cy="502920"/>
          </a:xfrm>
          <a:prstGeom prst="rect">
            <a:avLst/>
          </a:prstGeom>
          <a:noFill/>
        </p:spPr>
        <p:txBody>
          <a:bodyPr wrap="square" anchor="ctr"/>
          <a:lstStyle/>
          <a:p>
            <a:pPr algn="ctr"/>
            <a:r>
              <a:rPr sz="1400" b="1" i="0">
                <a:solidFill>
                  <a:srgbClr val="FFFFFF"/>
                </a:solidFill>
                <a:latin typeface="Calibri"/>
              </a:rPr>
              <a:t>02</a:t>
            </a:r>
          </a:p>
        </p:txBody>
      </p:sp>
      <p:sp>
        <p:nvSpPr>
          <p:cNvPr id="21" name="Rounded Rectangle 20"/>
          <p:cNvSpPr/>
          <p:nvPr/>
        </p:nvSpPr>
        <p:spPr>
          <a:xfrm>
            <a:off x="6492240" y="1737360"/>
            <a:ext cx="1170432" cy="347472"/>
          </a:xfrm>
          <a:prstGeom prst="roundRect">
            <a:avLst>
              <a:gd name="adj" fmla="val 50000"/>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737360"/>
            <a:ext cx="1170432" cy="347472"/>
          </a:xfrm>
          <a:prstGeom prst="rect">
            <a:avLst/>
          </a:prstGeom>
          <a:noFill/>
        </p:spPr>
        <p:txBody>
          <a:bodyPr wrap="square" anchor="ctr"/>
          <a:lstStyle/>
          <a:p>
            <a:pPr algn="ctr"/>
            <a:r>
              <a:rPr sz="1200" b="1" i="0">
                <a:solidFill>
                  <a:srgbClr val="FFFFFF"/>
                </a:solidFill>
                <a:latin typeface="Calibri"/>
              </a:rPr>
              <a:t>4 min</a:t>
            </a:r>
          </a:p>
        </p:txBody>
      </p:sp>
      <p:sp>
        <p:nvSpPr>
          <p:cNvPr id="23" name="TextBox 22"/>
          <p:cNvSpPr txBox="1"/>
          <p:nvPr/>
        </p:nvSpPr>
        <p:spPr>
          <a:xfrm>
            <a:off x="4507992" y="2350008"/>
            <a:ext cx="3154680" cy="502920"/>
          </a:xfrm>
          <a:prstGeom prst="rect">
            <a:avLst/>
          </a:prstGeom>
          <a:noFill/>
        </p:spPr>
        <p:txBody>
          <a:bodyPr wrap="square" anchor="t"/>
          <a:lstStyle/>
          <a:p>
            <a:pPr algn="l"/>
            <a:r>
              <a:rPr sz="1600" b="1" i="0">
                <a:solidFill>
                  <a:srgbClr val="0B2545"/>
                </a:solidFill>
                <a:latin typeface="Calibri"/>
              </a:rPr>
              <a:t>Objectifs et démarche</a:t>
            </a:r>
          </a:p>
        </p:txBody>
      </p:sp>
      <p:sp>
        <p:nvSpPr>
          <p:cNvPr id="24" name="TextBox 23"/>
          <p:cNvSpPr txBox="1"/>
          <p:nvPr/>
        </p:nvSpPr>
        <p:spPr>
          <a:xfrm>
            <a:off x="4507992" y="2834640"/>
            <a:ext cx="3154680" cy="594360"/>
          </a:xfrm>
          <a:prstGeom prst="rect">
            <a:avLst/>
          </a:prstGeom>
          <a:noFill/>
        </p:spPr>
        <p:txBody>
          <a:bodyPr wrap="square" anchor="t"/>
          <a:lstStyle/>
          <a:p>
            <a:pPr algn="l"/>
            <a:r>
              <a:rPr sz="1300" b="0" i="0">
                <a:solidFill>
                  <a:srgbClr val="4B5563"/>
                </a:solidFill>
                <a:latin typeface="Calibri"/>
              </a:rPr>
              <a:t>Objectifs, cycle en cascade, diagramme de Gantt</a:t>
            </a:r>
          </a:p>
        </p:txBody>
      </p:sp>
      <p:sp>
        <p:nvSpPr>
          <p:cNvPr id="25" name="Rounded Rectangle 24"/>
          <p:cNvSpPr/>
          <p:nvPr/>
        </p:nvSpPr>
        <p:spPr>
          <a:xfrm>
            <a:off x="8092440" y="1481328"/>
            <a:ext cx="3611880" cy="2121408"/>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1481328"/>
            <a:ext cx="109728" cy="2121408"/>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168249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2" y="1682496"/>
            <a:ext cx="502920" cy="502920"/>
          </a:xfrm>
          <a:prstGeom prst="rect">
            <a:avLst/>
          </a:prstGeom>
          <a:noFill/>
        </p:spPr>
        <p:txBody>
          <a:bodyPr wrap="square" anchor="ctr"/>
          <a:lstStyle/>
          <a:p>
            <a:pPr algn="ctr"/>
            <a:r>
              <a:rPr sz="1400" b="1" i="0">
                <a:solidFill>
                  <a:srgbClr val="FFFFFF"/>
                </a:solidFill>
                <a:latin typeface="Calibri"/>
              </a:rPr>
              <a:t>03</a:t>
            </a:r>
          </a:p>
        </p:txBody>
      </p:sp>
      <p:sp>
        <p:nvSpPr>
          <p:cNvPr id="29" name="Rounded Rectangle 28"/>
          <p:cNvSpPr/>
          <p:nvPr/>
        </p:nvSpPr>
        <p:spPr>
          <a:xfrm>
            <a:off x="10332720" y="1737360"/>
            <a:ext cx="1170432" cy="347472"/>
          </a:xfrm>
          <a:prstGeom prst="roundRect">
            <a:avLst>
              <a:gd name="adj" fmla="val 50000"/>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0" y="1737360"/>
            <a:ext cx="1170432" cy="347472"/>
          </a:xfrm>
          <a:prstGeom prst="rect">
            <a:avLst/>
          </a:prstGeom>
          <a:noFill/>
        </p:spPr>
        <p:txBody>
          <a:bodyPr wrap="square" anchor="ctr"/>
          <a:lstStyle/>
          <a:p>
            <a:pPr algn="ctr"/>
            <a:r>
              <a:rPr sz="1200" b="1" i="0">
                <a:solidFill>
                  <a:srgbClr val="FFFFFF"/>
                </a:solidFill>
                <a:latin typeface="Calibri"/>
              </a:rPr>
              <a:t>6 min</a:t>
            </a:r>
          </a:p>
        </p:txBody>
      </p:sp>
      <p:sp>
        <p:nvSpPr>
          <p:cNvPr id="31" name="TextBox 30"/>
          <p:cNvSpPr txBox="1"/>
          <p:nvPr/>
        </p:nvSpPr>
        <p:spPr>
          <a:xfrm>
            <a:off x="8348472" y="2350008"/>
            <a:ext cx="3154680" cy="502920"/>
          </a:xfrm>
          <a:prstGeom prst="rect">
            <a:avLst/>
          </a:prstGeom>
          <a:noFill/>
        </p:spPr>
        <p:txBody>
          <a:bodyPr wrap="square" anchor="t"/>
          <a:lstStyle/>
          <a:p>
            <a:pPr algn="l"/>
            <a:r>
              <a:rPr sz="1600" b="1" i="0">
                <a:solidFill>
                  <a:srgbClr val="0B2545"/>
                </a:solidFill>
                <a:latin typeface="Calibri"/>
              </a:rPr>
              <a:t>Analyse et conception</a:t>
            </a:r>
          </a:p>
        </p:txBody>
      </p:sp>
      <p:sp>
        <p:nvSpPr>
          <p:cNvPr id="32" name="TextBox 31"/>
          <p:cNvSpPr txBox="1"/>
          <p:nvPr/>
        </p:nvSpPr>
        <p:spPr>
          <a:xfrm>
            <a:off x="8348472" y="2834640"/>
            <a:ext cx="3154680" cy="594360"/>
          </a:xfrm>
          <a:prstGeom prst="rect">
            <a:avLst/>
          </a:prstGeom>
          <a:noFill/>
        </p:spPr>
        <p:txBody>
          <a:bodyPr wrap="square" anchor="t"/>
          <a:lstStyle/>
          <a:p>
            <a:pPr algn="l"/>
            <a:r>
              <a:rPr sz="1300" b="0" i="0">
                <a:solidFill>
                  <a:srgbClr val="4B5563"/>
                </a:solidFill>
                <a:latin typeface="Calibri"/>
              </a:rPr>
              <a:t>Acteurs, périmètre, cas d'utilisation, classes</a:t>
            </a:r>
          </a:p>
        </p:txBody>
      </p:sp>
      <p:sp>
        <p:nvSpPr>
          <p:cNvPr id="33" name="Rounded Rectangle 32"/>
          <p:cNvSpPr/>
          <p:nvPr/>
        </p:nvSpPr>
        <p:spPr>
          <a:xfrm>
            <a:off x="411480" y="3813048"/>
            <a:ext cx="3611880" cy="2121408"/>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3813048"/>
            <a:ext cx="109728" cy="2121408"/>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7512" y="401421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 y="4014216"/>
            <a:ext cx="502920" cy="502920"/>
          </a:xfrm>
          <a:prstGeom prst="rect">
            <a:avLst/>
          </a:prstGeom>
          <a:noFill/>
        </p:spPr>
        <p:txBody>
          <a:bodyPr wrap="square" anchor="ctr"/>
          <a:lstStyle/>
          <a:p>
            <a:pPr algn="ctr"/>
            <a:r>
              <a:rPr sz="1400" b="1" i="0">
                <a:solidFill>
                  <a:srgbClr val="FFFFFF"/>
                </a:solidFill>
                <a:latin typeface="Calibri"/>
              </a:rPr>
              <a:t>04</a:t>
            </a:r>
          </a:p>
        </p:txBody>
      </p:sp>
      <p:sp>
        <p:nvSpPr>
          <p:cNvPr id="37" name="Rounded Rectangle 36"/>
          <p:cNvSpPr/>
          <p:nvPr/>
        </p:nvSpPr>
        <p:spPr>
          <a:xfrm>
            <a:off x="2651760" y="4069080"/>
            <a:ext cx="1170432" cy="347472"/>
          </a:xfrm>
          <a:prstGeom prst="roundRect">
            <a:avLst>
              <a:gd name="adj" fmla="val 5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51760" y="4069080"/>
            <a:ext cx="1170432" cy="347472"/>
          </a:xfrm>
          <a:prstGeom prst="rect">
            <a:avLst/>
          </a:prstGeom>
          <a:noFill/>
        </p:spPr>
        <p:txBody>
          <a:bodyPr wrap="square" anchor="ctr"/>
          <a:lstStyle/>
          <a:p>
            <a:pPr algn="ctr"/>
            <a:r>
              <a:rPr sz="1200" b="1" i="0">
                <a:solidFill>
                  <a:srgbClr val="FFFFFF"/>
                </a:solidFill>
                <a:latin typeface="Calibri"/>
              </a:rPr>
              <a:t>5 min</a:t>
            </a:r>
          </a:p>
        </p:txBody>
      </p:sp>
      <p:sp>
        <p:nvSpPr>
          <p:cNvPr id="39" name="TextBox 38"/>
          <p:cNvSpPr txBox="1"/>
          <p:nvPr/>
        </p:nvSpPr>
        <p:spPr>
          <a:xfrm>
            <a:off x="667512" y="4681728"/>
            <a:ext cx="3154680" cy="502920"/>
          </a:xfrm>
          <a:prstGeom prst="rect">
            <a:avLst/>
          </a:prstGeom>
          <a:noFill/>
        </p:spPr>
        <p:txBody>
          <a:bodyPr wrap="square" anchor="t"/>
          <a:lstStyle/>
          <a:p>
            <a:pPr algn="l"/>
            <a:r>
              <a:rPr sz="1600" b="1" i="0">
                <a:solidFill>
                  <a:srgbClr val="0B2545"/>
                </a:solidFill>
                <a:latin typeface="Calibri"/>
              </a:rPr>
              <a:t>Architecture technique</a:t>
            </a:r>
          </a:p>
        </p:txBody>
      </p:sp>
      <p:sp>
        <p:nvSpPr>
          <p:cNvPr id="40" name="TextBox 39"/>
          <p:cNvSpPr txBox="1"/>
          <p:nvPr/>
        </p:nvSpPr>
        <p:spPr>
          <a:xfrm>
            <a:off x="667512" y="5166360"/>
            <a:ext cx="3154680" cy="594360"/>
          </a:xfrm>
          <a:prstGeom prst="rect">
            <a:avLst/>
          </a:prstGeom>
          <a:noFill/>
        </p:spPr>
        <p:txBody>
          <a:bodyPr wrap="square" anchor="t"/>
          <a:lstStyle/>
          <a:p>
            <a:pPr algn="l"/>
            <a:r>
              <a:rPr sz="1300" b="0" i="0">
                <a:solidFill>
                  <a:srgbClr val="4B5563"/>
                </a:solidFill>
                <a:latin typeface="Calibri"/>
              </a:rPr>
              <a:t>Gateway, 6 microservices, JWT, PostgreSQL</a:t>
            </a:r>
          </a:p>
        </p:txBody>
      </p:sp>
      <p:sp>
        <p:nvSpPr>
          <p:cNvPr id="41" name="Rounded Rectangle 40"/>
          <p:cNvSpPr/>
          <p:nvPr/>
        </p:nvSpPr>
        <p:spPr>
          <a:xfrm>
            <a:off x="4251960" y="3813048"/>
            <a:ext cx="3611880" cy="2121408"/>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251960" y="3813048"/>
            <a:ext cx="109728" cy="2121408"/>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507992" y="401421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07992" y="4014216"/>
            <a:ext cx="502920" cy="502920"/>
          </a:xfrm>
          <a:prstGeom prst="rect">
            <a:avLst/>
          </a:prstGeom>
          <a:noFill/>
        </p:spPr>
        <p:txBody>
          <a:bodyPr wrap="square" anchor="ctr"/>
          <a:lstStyle/>
          <a:p>
            <a:pPr algn="ctr"/>
            <a:r>
              <a:rPr sz="1400" b="1" i="0">
                <a:solidFill>
                  <a:srgbClr val="FFFFFF"/>
                </a:solidFill>
                <a:latin typeface="Calibri"/>
              </a:rPr>
              <a:t>05</a:t>
            </a:r>
          </a:p>
        </p:txBody>
      </p:sp>
      <p:sp>
        <p:nvSpPr>
          <p:cNvPr id="45" name="Rounded Rectangle 44"/>
          <p:cNvSpPr/>
          <p:nvPr/>
        </p:nvSpPr>
        <p:spPr>
          <a:xfrm>
            <a:off x="6492240" y="4069080"/>
            <a:ext cx="1170432" cy="347472"/>
          </a:xfrm>
          <a:prstGeom prst="roundRect">
            <a:avLst>
              <a:gd name="adj" fmla="val 5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4069080"/>
            <a:ext cx="1170432" cy="347472"/>
          </a:xfrm>
          <a:prstGeom prst="rect">
            <a:avLst/>
          </a:prstGeom>
          <a:noFill/>
        </p:spPr>
        <p:txBody>
          <a:bodyPr wrap="square" anchor="ctr"/>
          <a:lstStyle/>
          <a:p>
            <a:pPr algn="ctr"/>
            <a:r>
              <a:rPr sz="1200" b="1" i="0">
                <a:solidFill>
                  <a:srgbClr val="FFFFFF"/>
                </a:solidFill>
                <a:latin typeface="Calibri"/>
              </a:rPr>
              <a:t>8 min</a:t>
            </a:r>
          </a:p>
        </p:txBody>
      </p:sp>
      <p:sp>
        <p:nvSpPr>
          <p:cNvPr id="47" name="TextBox 46"/>
          <p:cNvSpPr txBox="1"/>
          <p:nvPr/>
        </p:nvSpPr>
        <p:spPr>
          <a:xfrm>
            <a:off x="4507992" y="4681728"/>
            <a:ext cx="3154680" cy="502920"/>
          </a:xfrm>
          <a:prstGeom prst="rect">
            <a:avLst/>
          </a:prstGeom>
          <a:noFill/>
        </p:spPr>
        <p:txBody>
          <a:bodyPr wrap="square" anchor="t"/>
          <a:lstStyle/>
          <a:p>
            <a:pPr algn="l"/>
            <a:r>
              <a:rPr sz="1600" b="1" i="0">
                <a:solidFill>
                  <a:srgbClr val="0B2545"/>
                </a:solidFill>
                <a:latin typeface="Calibri"/>
              </a:rPr>
              <a:t>Réalisation</a:t>
            </a:r>
          </a:p>
        </p:txBody>
      </p:sp>
      <p:sp>
        <p:nvSpPr>
          <p:cNvPr id="48" name="TextBox 47"/>
          <p:cNvSpPr txBox="1"/>
          <p:nvPr/>
        </p:nvSpPr>
        <p:spPr>
          <a:xfrm>
            <a:off x="4507992" y="5166360"/>
            <a:ext cx="3154680" cy="594360"/>
          </a:xfrm>
          <a:prstGeom prst="rect">
            <a:avLst/>
          </a:prstGeom>
          <a:noFill/>
        </p:spPr>
        <p:txBody>
          <a:bodyPr wrap="square" anchor="t"/>
          <a:lstStyle/>
          <a:p>
            <a:pPr algn="l"/>
            <a:r>
              <a:rPr sz="1300" b="0" i="0">
                <a:solidFill>
                  <a:srgbClr val="4B5563"/>
                </a:solidFill>
                <a:latin typeface="Calibri"/>
              </a:rPr>
              <a:t>Import Excel, répartition, convocations, tableau de bord</a:t>
            </a:r>
          </a:p>
        </p:txBody>
      </p:sp>
      <p:sp>
        <p:nvSpPr>
          <p:cNvPr id="49" name="Rounded Rectangle 48"/>
          <p:cNvSpPr/>
          <p:nvPr/>
        </p:nvSpPr>
        <p:spPr>
          <a:xfrm>
            <a:off x="8092440" y="3813048"/>
            <a:ext cx="3611880" cy="2121408"/>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92440" y="3813048"/>
            <a:ext cx="109728" cy="2121408"/>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348472" y="401421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48472" y="4014216"/>
            <a:ext cx="502920" cy="502920"/>
          </a:xfrm>
          <a:prstGeom prst="rect">
            <a:avLst/>
          </a:prstGeom>
          <a:noFill/>
        </p:spPr>
        <p:txBody>
          <a:bodyPr wrap="square" anchor="ctr"/>
          <a:lstStyle/>
          <a:p>
            <a:pPr algn="ctr"/>
            <a:r>
              <a:rPr sz="1400" b="1" i="0">
                <a:solidFill>
                  <a:srgbClr val="FFFFFF"/>
                </a:solidFill>
                <a:latin typeface="Calibri"/>
              </a:rPr>
              <a:t>06</a:t>
            </a:r>
          </a:p>
        </p:txBody>
      </p:sp>
      <p:sp>
        <p:nvSpPr>
          <p:cNvPr id="53" name="Rounded Rectangle 52"/>
          <p:cNvSpPr/>
          <p:nvPr/>
        </p:nvSpPr>
        <p:spPr>
          <a:xfrm>
            <a:off x="10332720" y="4069080"/>
            <a:ext cx="1170432" cy="347472"/>
          </a:xfrm>
          <a:prstGeom prst="roundRect">
            <a:avLst>
              <a:gd name="adj" fmla="val 5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32720" y="4069080"/>
            <a:ext cx="1170432" cy="347472"/>
          </a:xfrm>
          <a:prstGeom prst="rect">
            <a:avLst/>
          </a:prstGeom>
          <a:noFill/>
        </p:spPr>
        <p:txBody>
          <a:bodyPr wrap="square" anchor="ctr"/>
          <a:lstStyle/>
          <a:p>
            <a:pPr algn="ctr"/>
            <a:r>
              <a:rPr sz="1200" b="1" i="0">
                <a:solidFill>
                  <a:srgbClr val="FFFFFF"/>
                </a:solidFill>
                <a:latin typeface="Calibri"/>
              </a:rPr>
              <a:t>2 min</a:t>
            </a:r>
          </a:p>
        </p:txBody>
      </p:sp>
      <p:sp>
        <p:nvSpPr>
          <p:cNvPr id="55" name="TextBox 54"/>
          <p:cNvSpPr txBox="1"/>
          <p:nvPr/>
        </p:nvSpPr>
        <p:spPr>
          <a:xfrm>
            <a:off x="8348472" y="4681728"/>
            <a:ext cx="3154680" cy="502920"/>
          </a:xfrm>
          <a:prstGeom prst="rect">
            <a:avLst/>
          </a:prstGeom>
          <a:noFill/>
        </p:spPr>
        <p:txBody>
          <a:bodyPr wrap="square" anchor="t"/>
          <a:lstStyle/>
          <a:p>
            <a:pPr algn="l"/>
            <a:r>
              <a:rPr sz="1600" b="1" i="0">
                <a:solidFill>
                  <a:srgbClr val="0B2545"/>
                </a:solidFill>
                <a:latin typeface="Calibri"/>
              </a:rPr>
              <a:t>Bilan et perspectives</a:t>
            </a:r>
          </a:p>
        </p:txBody>
      </p:sp>
      <p:sp>
        <p:nvSpPr>
          <p:cNvPr id="56" name="TextBox 55"/>
          <p:cNvSpPr txBox="1"/>
          <p:nvPr/>
        </p:nvSpPr>
        <p:spPr>
          <a:xfrm>
            <a:off x="8348472" y="5166360"/>
            <a:ext cx="3154680" cy="594360"/>
          </a:xfrm>
          <a:prstGeom prst="rect">
            <a:avLst/>
          </a:prstGeom>
          <a:noFill/>
        </p:spPr>
        <p:txBody>
          <a:bodyPr wrap="square" anchor="t"/>
          <a:lstStyle/>
          <a:p>
            <a:pPr algn="l"/>
            <a:r>
              <a:rPr sz="1300" b="0" i="0">
                <a:solidFill>
                  <a:srgbClr val="4B5563"/>
                </a:solidFill>
                <a:latin typeface="Calibri"/>
              </a:rPr>
              <a:t>Apports, limites, évolutions, conclusion</a:t>
            </a:r>
          </a:p>
        </p:txBody>
      </p:sp>
      <p:sp>
        <p:nvSpPr>
          <p:cNvPr id="57" name="Rectangle 56"/>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59" name="TextBox 58"/>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 /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1  ·  Contexte et problématique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L'organisme d'accueil</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3 / 29</a:t>
            </a:r>
          </a:p>
        </p:txBody>
      </p:sp>
      <p:sp>
        <p:nvSpPr>
          <p:cNvPr id="12" name="TextBox 11"/>
          <p:cNvSpPr txBox="1"/>
          <p:nvPr/>
        </p:nvSpPr>
        <p:spPr>
          <a:xfrm>
            <a:off x="457200" y="1298448"/>
            <a:ext cx="6766560" cy="640080"/>
          </a:xfrm>
          <a:prstGeom prst="rect">
            <a:avLst/>
          </a:prstGeom>
          <a:noFill/>
        </p:spPr>
        <p:txBody>
          <a:bodyPr wrap="square" anchor="t"/>
          <a:lstStyle/>
          <a:p>
            <a:pPr algn="l"/>
            <a:r>
              <a:rPr sz="2000" b="1" i="0">
                <a:solidFill>
                  <a:srgbClr val="0B2545"/>
                </a:solidFill>
                <a:latin typeface="Calibri"/>
              </a:rPr>
              <a:t>Ministère de l'Économie et des Finances</a:t>
            </a:r>
          </a:p>
        </p:txBody>
      </p:sp>
      <p:sp>
        <p:nvSpPr>
          <p:cNvPr id="13" name="TextBox 12"/>
          <p:cNvSpPr txBox="1"/>
          <p:nvPr/>
        </p:nvSpPr>
        <p:spPr>
          <a:xfrm>
            <a:off x="457200" y="1920240"/>
            <a:ext cx="6858000" cy="4297680"/>
          </a:xfrm>
          <a:prstGeom prst="rect">
            <a:avLst/>
          </a:prstGeom>
          <a:noFill/>
        </p:spPr>
        <p:txBody>
          <a:bodyPr wrap="square">
            <a:spAutoFit/>
          </a:bodyPr>
          <a:lstStyle/>
          <a:p>
            <a:pPr algn="l">
              <a:spcAft>
                <a:spcPts val="900"/>
              </a:spcAft>
            </a:pPr>
            <a:r>
              <a:rPr sz="1600" b="0" i="0">
                <a:solidFill>
                  <a:srgbClr val="1F2937"/>
                </a:solidFill>
                <a:latin typeface="Calibri"/>
              </a:rPr>
              <a:t>•   Élabore et met en œuvre la politique économique et financière de l'État.</a:t>
            </a:r>
          </a:p>
          <a:p>
            <a:pPr algn="l">
              <a:spcAft>
                <a:spcPts val="900"/>
              </a:spcAft>
            </a:pPr>
            <a:r>
              <a:rPr sz="1600" b="0" i="0">
                <a:solidFill>
                  <a:srgbClr val="1F2937"/>
                </a:solidFill>
                <a:latin typeface="Calibri"/>
              </a:rPr>
              <a:t>•   Siège : boulevard Mohammed V, Rabat-Chellah.</a:t>
            </a:r>
          </a:p>
          <a:p>
            <a:pPr algn="l">
              <a:spcAft>
                <a:spcPts val="900"/>
              </a:spcAft>
            </a:pPr>
            <a:r>
              <a:rPr sz="1600" b="0" i="0">
                <a:solidFill>
                  <a:srgbClr val="1F2937"/>
                </a:solidFill>
                <a:latin typeface="Calibri"/>
              </a:rPr>
              <a:t>•   Loi de finances, recettes, dépenses, contrôle des finances publiques.</a:t>
            </a:r>
          </a:p>
          <a:p>
            <a:pPr algn="l">
              <a:spcAft>
                <a:spcPts val="900"/>
              </a:spcAft>
            </a:pPr>
            <a:r>
              <a:rPr sz="1600" b="0" i="0">
                <a:solidFill>
                  <a:srgbClr val="1F2937"/>
                </a:solidFill>
                <a:latin typeface="Calibri"/>
              </a:rPr>
              <a:t>•   Plus de 17 000 agents dans les directions à réseau, plus de 2 000 en administration centrale.</a:t>
            </a:r>
          </a:p>
          <a:p>
            <a:pPr algn="l">
              <a:spcAft>
                <a:spcPts val="900"/>
              </a:spcAft>
            </a:pPr>
            <a:r>
              <a:rPr sz="1600" b="0" i="0">
                <a:solidFill>
                  <a:srgbClr val="1F2937"/>
                </a:solidFill>
                <a:latin typeface="Calibri"/>
              </a:rPr>
              <a:t>•   Modernisation : digitalisation des métiers et gestion du capital humain.</a:t>
            </a:r>
          </a:p>
          <a:p>
            <a:pPr algn="l">
              <a:spcAft>
                <a:spcPts val="900"/>
              </a:spcAft>
            </a:pPr>
            <a:r>
              <a:rPr sz="1600" b="0" i="0">
                <a:solidFill>
                  <a:srgbClr val="1F2937"/>
                </a:solidFill>
                <a:latin typeface="Calibri"/>
              </a:rPr>
              <a:t>•   Le stage se déroule à la DAAG, sur l'organisation des concours de recrutement.</a:t>
            </a:r>
          </a:p>
        </p:txBody>
      </p:sp>
      <p:sp>
        <p:nvSpPr>
          <p:cNvPr id="14" name="Rounded Rectangle 13"/>
          <p:cNvSpPr/>
          <p:nvPr/>
        </p:nvSpPr>
        <p:spPr>
          <a:xfrm>
            <a:off x="7543800" y="1417320"/>
            <a:ext cx="4160520" cy="1874519"/>
          </a:xfrm>
          <a:prstGeom prst="roundRect">
            <a:avLst>
              <a:gd name="adj" fmla="val 6000"/>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ef-logo.png"/>
          <p:cNvPicPr>
            <a:picLocks noChangeAspect="1"/>
          </p:cNvPicPr>
          <p:nvPr/>
        </p:nvPicPr>
        <p:blipFill>
          <a:blip r:embed="rId3"/>
          <a:stretch>
            <a:fillRect/>
          </a:stretch>
        </p:blipFill>
        <p:spPr>
          <a:xfrm>
            <a:off x="7680960" y="1599529"/>
            <a:ext cx="3886200" cy="1500957"/>
          </a:xfrm>
          <a:prstGeom prst="rect">
            <a:avLst/>
          </a:prstGeom>
        </p:spPr>
      </p:pic>
      <p:sp>
        <p:nvSpPr>
          <p:cNvPr id="16" name="Rounded Rectangle 15"/>
          <p:cNvSpPr/>
          <p:nvPr/>
        </p:nvSpPr>
        <p:spPr>
          <a:xfrm>
            <a:off x="7543800" y="3474720"/>
            <a:ext cx="4160520" cy="8412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9248" y="3547872"/>
            <a:ext cx="3858768" cy="292608"/>
          </a:xfrm>
          <a:prstGeom prst="rect">
            <a:avLst/>
          </a:prstGeom>
          <a:noFill/>
        </p:spPr>
        <p:txBody>
          <a:bodyPr wrap="square" anchor="t"/>
          <a:lstStyle/>
          <a:p>
            <a:pPr algn="l"/>
            <a:r>
              <a:rPr sz="1400" b="1" i="0">
                <a:solidFill>
                  <a:srgbClr val="008591"/>
                </a:solidFill>
                <a:latin typeface="Calibri"/>
              </a:rPr>
              <a:t>Budget et fiscalité</a:t>
            </a:r>
          </a:p>
        </p:txBody>
      </p:sp>
      <p:sp>
        <p:nvSpPr>
          <p:cNvPr id="18" name="TextBox 17"/>
          <p:cNvSpPr txBox="1"/>
          <p:nvPr/>
        </p:nvSpPr>
        <p:spPr>
          <a:xfrm>
            <a:off x="7699248" y="3840480"/>
            <a:ext cx="3858768" cy="384048"/>
          </a:xfrm>
          <a:prstGeom prst="rect">
            <a:avLst/>
          </a:prstGeom>
          <a:noFill/>
        </p:spPr>
        <p:txBody>
          <a:bodyPr wrap="square" anchor="t"/>
          <a:lstStyle/>
          <a:p>
            <a:pPr algn="l"/>
            <a:r>
              <a:rPr sz="1300" b="0" i="0">
                <a:solidFill>
                  <a:srgbClr val="1F2937"/>
                </a:solidFill>
                <a:latin typeface="Calibri"/>
              </a:rPr>
              <a:t>Loi de finances, recettes et dépenses</a:t>
            </a:r>
          </a:p>
        </p:txBody>
      </p:sp>
      <p:sp>
        <p:nvSpPr>
          <p:cNvPr id="19" name="Rounded Rectangle 18"/>
          <p:cNvSpPr/>
          <p:nvPr/>
        </p:nvSpPr>
        <p:spPr>
          <a:xfrm>
            <a:off x="7543800" y="4407408"/>
            <a:ext cx="4160520" cy="8412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99248" y="4480560"/>
            <a:ext cx="3858768" cy="292608"/>
          </a:xfrm>
          <a:prstGeom prst="rect">
            <a:avLst/>
          </a:prstGeom>
          <a:noFill/>
        </p:spPr>
        <p:txBody>
          <a:bodyPr wrap="square" anchor="t"/>
          <a:lstStyle/>
          <a:p>
            <a:pPr algn="l"/>
            <a:r>
              <a:rPr sz="1400" b="1" i="0">
                <a:solidFill>
                  <a:srgbClr val="008591"/>
                </a:solidFill>
                <a:latin typeface="Calibri"/>
              </a:rPr>
              <a:t>Contrôle</a:t>
            </a:r>
          </a:p>
        </p:txBody>
      </p:sp>
      <p:sp>
        <p:nvSpPr>
          <p:cNvPr id="21" name="TextBox 20"/>
          <p:cNvSpPr txBox="1"/>
          <p:nvPr/>
        </p:nvSpPr>
        <p:spPr>
          <a:xfrm>
            <a:off x="7699248" y="4773168"/>
            <a:ext cx="3858768" cy="384048"/>
          </a:xfrm>
          <a:prstGeom prst="rect">
            <a:avLst/>
          </a:prstGeom>
          <a:noFill/>
        </p:spPr>
        <p:txBody>
          <a:bodyPr wrap="square" anchor="t"/>
          <a:lstStyle/>
          <a:p>
            <a:pPr algn="l"/>
            <a:r>
              <a:rPr sz="1300" b="0" i="0">
                <a:solidFill>
                  <a:srgbClr val="1F2937"/>
                </a:solidFill>
                <a:latin typeface="Calibri"/>
              </a:rPr>
              <a:t>Finances publiques et entreprises publiques</a:t>
            </a:r>
          </a:p>
        </p:txBody>
      </p:sp>
      <p:sp>
        <p:nvSpPr>
          <p:cNvPr id="22" name="Rounded Rectangle 21"/>
          <p:cNvSpPr/>
          <p:nvPr/>
        </p:nvSpPr>
        <p:spPr>
          <a:xfrm>
            <a:off x="7543800" y="5340096"/>
            <a:ext cx="4160520" cy="84124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5413248"/>
            <a:ext cx="3858768" cy="292608"/>
          </a:xfrm>
          <a:prstGeom prst="rect">
            <a:avLst/>
          </a:prstGeom>
          <a:noFill/>
        </p:spPr>
        <p:txBody>
          <a:bodyPr wrap="square" anchor="t"/>
          <a:lstStyle/>
          <a:p>
            <a:pPr algn="l"/>
            <a:r>
              <a:rPr sz="1400" b="1" i="0">
                <a:solidFill>
                  <a:srgbClr val="008591"/>
                </a:solidFill>
                <a:latin typeface="Calibri"/>
              </a:rPr>
              <a:t>RH et SI</a:t>
            </a:r>
          </a:p>
        </p:txBody>
      </p:sp>
      <p:sp>
        <p:nvSpPr>
          <p:cNvPr id="24" name="TextBox 23"/>
          <p:cNvSpPr txBox="1"/>
          <p:nvPr/>
        </p:nvSpPr>
        <p:spPr>
          <a:xfrm>
            <a:off x="7699248" y="5705856"/>
            <a:ext cx="3858768" cy="384048"/>
          </a:xfrm>
          <a:prstGeom prst="rect">
            <a:avLst/>
          </a:prstGeom>
          <a:noFill/>
        </p:spPr>
        <p:txBody>
          <a:bodyPr wrap="square" anchor="t"/>
          <a:lstStyle/>
          <a:p>
            <a:pPr algn="l"/>
            <a:r>
              <a:rPr sz="1300" b="0" i="0">
                <a:solidFill>
                  <a:srgbClr val="1F2937"/>
                </a:solidFill>
                <a:latin typeface="Calibri"/>
              </a:rPr>
              <a:t>Recrutement, carrière, modernisation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1  ·  Contexte et problématique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La direction d'accueil : la DAAG</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4 / 29</a:t>
            </a:r>
          </a:p>
        </p:txBody>
      </p:sp>
      <p:sp>
        <p:nvSpPr>
          <p:cNvPr id="12" name="TextBox 11"/>
          <p:cNvSpPr txBox="1"/>
          <p:nvPr/>
        </p:nvSpPr>
        <p:spPr>
          <a:xfrm>
            <a:off x="457200" y="1298448"/>
            <a:ext cx="11247120" cy="411480"/>
          </a:xfrm>
          <a:prstGeom prst="rect">
            <a:avLst/>
          </a:prstGeom>
          <a:noFill/>
        </p:spPr>
        <p:txBody>
          <a:bodyPr wrap="square" anchor="t"/>
          <a:lstStyle/>
          <a:p>
            <a:pPr algn="l"/>
            <a:r>
              <a:rPr sz="1800" b="0" i="0">
                <a:solidFill>
                  <a:srgbClr val="4B5563"/>
                </a:solidFill>
                <a:latin typeface="Calibri"/>
              </a:rPr>
              <a:t>Direction des Affaires administratives et générales</a:t>
            </a:r>
          </a:p>
        </p:txBody>
      </p:sp>
      <p:sp>
        <p:nvSpPr>
          <p:cNvPr id="13" name="Rounded Rectangle 12"/>
          <p:cNvSpPr/>
          <p:nvPr/>
        </p:nvSpPr>
        <p:spPr>
          <a:xfrm>
            <a:off x="438912" y="1874519"/>
            <a:ext cx="3611880" cy="233172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2029968"/>
            <a:ext cx="475488" cy="475488"/>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029968"/>
            <a:ext cx="475488" cy="475488"/>
          </a:xfrm>
          <a:prstGeom prst="rect">
            <a:avLst/>
          </a:prstGeom>
          <a:noFill/>
        </p:spPr>
        <p:txBody>
          <a:bodyPr wrap="square" anchor="ctr"/>
          <a:lstStyle/>
          <a:p>
            <a:pPr algn="ctr"/>
            <a:r>
              <a:rPr sz="1300" b="1" i="0">
                <a:solidFill>
                  <a:srgbClr val="FFFFFF"/>
                </a:solidFill>
                <a:latin typeface="Calibri"/>
              </a:rPr>
              <a:t>01</a:t>
            </a:r>
          </a:p>
        </p:txBody>
      </p:sp>
      <p:sp>
        <p:nvSpPr>
          <p:cNvPr id="16" name="TextBox 15"/>
          <p:cNvSpPr txBox="1"/>
          <p:nvPr/>
        </p:nvSpPr>
        <p:spPr>
          <a:xfrm>
            <a:off x="640080" y="2633472"/>
            <a:ext cx="3200400" cy="502920"/>
          </a:xfrm>
          <a:prstGeom prst="rect">
            <a:avLst/>
          </a:prstGeom>
          <a:noFill/>
        </p:spPr>
        <p:txBody>
          <a:bodyPr wrap="square" anchor="t"/>
          <a:lstStyle/>
          <a:p>
            <a:pPr algn="l"/>
            <a:r>
              <a:rPr sz="1700" b="1" i="0">
                <a:solidFill>
                  <a:srgbClr val="0B2545"/>
                </a:solidFill>
                <a:latin typeface="Calibri"/>
              </a:rPr>
              <a:t>Ressources humaines</a:t>
            </a:r>
          </a:p>
        </p:txBody>
      </p:sp>
      <p:sp>
        <p:nvSpPr>
          <p:cNvPr id="17" name="TextBox 16"/>
          <p:cNvSpPr txBox="1"/>
          <p:nvPr/>
        </p:nvSpPr>
        <p:spPr>
          <a:xfrm>
            <a:off x="640080" y="3154680"/>
            <a:ext cx="3200400" cy="868680"/>
          </a:xfrm>
          <a:prstGeom prst="rect">
            <a:avLst/>
          </a:prstGeom>
          <a:noFill/>
        </p:spPr>
        <p:txBody>
          <a:bodyPr wrap="square" anchor="t"/>
          <a:lstStyle/>
          <a:p>
            <a:pPr algn="l"/>
            <a:r>
              <a:rPr sz="1400" b="0" i="0">
                <a:solidFill>
                  <a:srgbClr val="1F2937"/>
                </a:solidFill>
                <a:latin typeface="Calibri"/>
              </a:rPr>
              <a:t>Politique RH, déroulement de carrière et action sociale.</a:t>
            </a:r>
          </a:p>
        </p:txBody>
      </p:sp>
      <p:sp>
        <p:nvSpPr>
          <p:cNvPr id="18" name="Rounded Rectangle 17"/>
          <p:cNvSpPr/>
          <p:nvPr/>
        </p:nvSpPr>
        <p:spPr>
          <a:xfrm>
            <a:off x="4279392" y="1874519"/>
            <a:ext cx="3611880" cy="233172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2029968"/>
            <a:ext cx="475488" cy="475488"/>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2029968"/>
            <a:ext cx="475488" cy="475488"/>
          </a:xfrm>
          <a:prstGeom prst="rect">
            <a:avLst/>
          </a:prstGeom>
          <a:noFill/>
        </p:spPr>
        <p:txBody>
          <a:bodyPr wrap="square" anchor="ctr"/>
          <a:lstStyle/>
          <a:p>
            <a:pPr algn="ctr"/>
            <a:r>
              <a:rPr sz="1300" b="1" i="0">
                <a:solidFill>
                  <a:srgbClr val="FFFFFF"/>
                </a:solidFill>
                <a:latin typeface="Calibri"/>
              </a:rPr>
              <a:t>02</a:t>
            </a:r>
          </a:p>
        </p:txBody>
      </p:sp>
      <p:sp>
        <p:nvSpPr>
          <p:cNvPr id="21" name="TextBox 20"/>
          <p:cNvSpPr txBox="1"/>
          <p:nvPr/>
        </p:nvSpPr>
        <p:spPr>
          <a:xfrm>
            <a:off x="4480560" y="2633472"/>
            <a:ext cx="3200400" cy="502920"/>
          </a:xfrm>
          <a:prstGeom prst="rect">
            <a:avLst/>
          </a:prstGeom>
          <a:noFill/>
        </p:spPr>
        <p:txBody>
          <a:bodyPr wrap="square" anchor="t"/>
          <a:lstStyle/>
          <a:p>
            <a:pPr algn="l"/>
            <a:r>
              <a:rPr sz="1700" b="1" i="0">
                <a:solidFill>
                  <a:srgbClr val="0B2545"/>
                </a:solidFill>
                <a:latin typeface="Calibri"/>
              </a:rPr>
              <a:t>Recrutement</a:t>
            </a:r>
          </a:p>
        </p:txBody>
      </p:sp>
      <p:sp>
        <p:nvSpPr>
          <p:cNvPr id="22" name="TextBox 21"/>
          <p:cNvSpPr txBox="1"/>
          <p:nvPr/>
        </p:nvSpPr>
        <p:spPr>
          <a:xfrm>
            <a:off x="4480560" y="3154680"/>
            <a:ext cx="3200400" cy="868680"/>
          </a:xfrm>
          <a:prstGeom prst="rect">
            <a:avLst/>
          </a:prstGeom>
          <a:noFill/>
        </p:spPr>
        <p:txBody>
          <a:bodyPr wrap="square" anchor="t"/>
          <a:lstStyle/>
          <a:p>
            <a:pPr algn="l"/>
            <a:r>
              <a:rPr sz="1400" b="0" i="0">
                <a:solidFill>
                  <a:srgbClr val="1F2937"/>
                </a:solidFill>
                <a:latin typeface="Calibri"/>
              </a:rPr>
              <a:t>Coordination des concours et de l'organisation des épreuves.</a:t>
            </a:r>
          </a:p>
        </p:txBody>
      </p:sp>
      <p:sp>
        <p:nvSpPr>
          <p:cNvPr id="23" name="Rounded Rectangle 22"/>
          <p:cNvSpPr/>
          <p:nvPr/>
        </p:nvSpPr>
        <p:spPr>
          <a:xfrm>
            <a:off x="8119872" y="1874519"/>
            <a:ext cx="3611880" cy="233172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21040" y="2029968"/>
            <a:ext cx="475488" cy="475488"/>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2029968"/>
            <a:ext cx="475488" cy="475488"/>
          </a:xfrm>
          <a:prstGeom prst="rect">
            <a:avLst/>
          </a:prstGeom>
          <a:noFill/>
        </p:spPr>
        <p:txBody>
          <a:bodyPr wrap="square" anchor="ctr"/>
          <a:lstStyle/>
          <a:p>
            <a:pPr algn="ctr"/>
            <a:r>
              <a:rPr sz="1300" b="1" i="0">
                <a:solidFill>
                  <a:srgbClr val="FFFFFF"/>
                </a:solidFill>
                <a:latin typeface="Calibri"/>
              </a:rPr>
              <a:t>03</a:t>
            </a:r>
          </a:p>
        </p:txBody>
      </p:sp>
      <p:sp>
        <p:nvSpPr>
          <p:cNvPr id="26" name="TextBox 25"/>
          <p:cNvSpPr txBox="1"/>
          <p:nvPr/>
        </p:nvSpPr>
        <p:spPr>
          <a:xfrm>
            <a:off x="8321040" y="2633472"/>
            <a:ext cx="3200400" cy="502920"/>
          </a:xfrm>
          <a:prstGeom prst="rect">
            <a:avLst/>
          </a:prstGeom>
          <a:noFill/>
        </p:spPr>
        <p:txBody>
          <a:bodyPr wrap="square" anchor="t"/>
          <a:lstStyle/>
          <a:p>
            <a:pPr algn="l"/>
            <a:r>
              <a:rPr sz="1700" b="1" i="0">
                <a:solidFill>
                  <a:srgbClr val="0B2545"/>
                </a:solidFill>
                <a:latin typeface="Calibri"/>
              </a:rPr>
              <a:t>Systèmes d'information</a:t>
            </a:r>
          </a:p>
        </p:txBody>
      </p:sp>
      <p:sp>
        <p:nvSpPr>
          <p:cNvPr id="27" name="TextBox 26"/>
          <p:cNvSpPr txBox="1"/>
          <p:nvPr/>
        </p:nvSpPr>
        <p:spPr>
          <a:xfrm>
            <a:off x="8321040" y="3154680"/>
            <a:ext cx="3200400" cy="868680"/>
          </a:xfrm>
          <a:prstGeom prst="rect">
            <a:avLst/>
          </a:prstGeom>
          <a:noFill/>
        </p:spPr>
        <p:txBody>
          <a:bodyPr wrap="square" anchor="t"/>
          <a:lstStyle/>
          <a:p>
            <a:pPr algn="l"/>
            <a:r>
              <a:rPr sz="1400" b="0" i="0">
                <a:solidFill>
                  <a:srgbClr val="1F2937"/>
                </a:solidFill>
                <a:latin typeface="Calibri"/>
              </a:rPr>
              <a:t>SI et technologies au service des métiers du Ministère.</a:t>
            </a:r>
          </a:p>
        </p:txBody>
      </p:sp>
      <p:sp>
        <p:nvSpPr>
          <p:cNvPr id="28" name="Rounded Rectangle 27"/>
          <p:cNvSpPr/>
          <p:nvPr/>
        </p:nvSpPr>
        <p:spPr>
          <a:xfrm>
            <a:off x="438912" y="4434840"/>
            <a:ext cx="11292840" cy="1874519"/>
          </a:xfrm>
          <a:prstGeom prst="roundRect">
            <a:avLst>
              <a:gd name="adj" fmla="val 6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72000"/>
            <a:ext cx="10835640" cy="365760"/>
          </a:xfrm>
          <a:prstGeom prst="rect">
            <a:avLst/>
          </a:prstGeom>
          <a:noFill/>
        </p:spPr>
        <p:txBody>
          <a:bodyPr wrap="square" anchor="t"/>
          <a:lstStyle/>
          <a:p>
            <a:pPr algn="l"/>
            <a:r>
              <a:rPr sz="1600" b="1" i="0">
                <a:solidFill>
                  <a:srgbClr val="99DDD6"/>
                </a:solidFill>
                <a:latin typeface="Calibri"/>
              </a:rPr>
              <a:t>Pourquoi la DAAG est le cadre naturel du projet</a:t>
            </a:r>
          </a:p>
        </p:txBody>
      </p:sp>
      <p:sp>
        <p:nvSpPr>
          <p:cNvPr id="30" name="TextBox 29"/>
          <p:cNvSpPr txBox="1"/>
          <p:nvPr/>
        </p:nvSpPr>
        <p:spPr>
          <a:xfrm>
            <a:off x="685800" y="4956048"/>
            <a:ext cx="10835640" cy="1143000"/>
          </a:xfrm>
          <a:prstGeom prst="rect">
            <a:avLst/>
          </a:prstGeom>
          <a:noFill/>
        </p:spPr>
        <p:txBody>
          <a:bodyPr wrap="square" anchor="t"/>
          <a:lstStyle/>
          <a:p>
            <a:pPr algn="l"/>
            <a:r>
              <a:rPr sz="1600" b="0" i="0">
                <a:solidFill>
                  <a:srgbClr val="FFFFFF"/>
                </a:solidFill>
                <a:latin typeface="Calibri"/>
              </a:rPr>
              <a:t>L'organisation des concours, l'affectation des candidats aux centres et aux salles, puis l'envoi des convocations relèvent de la gestion des ressources humaines et de la modernisation des processus. La plateforme vise à assister les gestionnaires, en automatisant surtout la répartition.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1  ·  Contexte et problématique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Le constat : un processus encore manuel</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5 / 29</a:t>
            </a:r>
          </a:p>
        </p:txBody>
      </p:sp>
      <p:sp>
        <p:nvSpPr>
          <p:cNvPr id="12" name="TextBox 11"/>
          <p:cNvSpPr txBox="1"/>
          <p:nvPr/>
        </p:nvSpPr>
        <p:spPr>
          <a:xfrm>
            <a:off x="457200" y="1298448"/>
            <a:ext cx="11247120" cy="502920"/>
          </a:xfrm>
          <a:prstGeom prst="rect">
            <a:avLst/>
          </a:prstGeom>
          <a:noFill/>
        </p:spPr>
        <p:txBody>
          <a:bodyPr wrap="square" anchor="t"/>
          <a:lstStyle/>
          <a:p>
            <a:pPr algn="l"/>
            <a:r>
              <a:rPr sz="1600" b="0" i="0">
                <a:solidFill>
                  <a:srgbClr val="4B5563"/>
                </a:solidFill>
                <a:latin typeface="Calibri"/>
              </a:rPr>
              <a:t>Une fois la liste des candidats établie, il reste à les placer et à les convoquer.</a:t>
            </a:r>
          </a:p>
        </p:txBody>
      </p:sp>
      <p:sp>
        <p:nvSpPr>
          <p:cNvPr id="13" name="Rounded Rectangle 12"/>
          <p:cNvSpPr/>
          <p:nvPr/>
        </p:nvSpPr>
        <p:spPr>
          <a:xfrm>
            <a:off x="438912" y="1920240"/>
            <a:ext cx="5577840" cy="19659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 y="1920240"/>
            <a:ext cx="128016" cy="1965960"/>
          </a:xfrm>
          <a:prstGeom prst="round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176272"/>
            <a:ext cx="4983480" cy="457200"/>
          </a:xfrm>
          <a:prstGeom prst="rect">
            <a:avLst/>
          </a:prstGeom>
          <a:noFill/>
        </p:spPr>
        <p:txBody>
          <a:bodyPr wrap="square" anchor="t"/>
          <a:lstStyle/>
          <a:p>
            <a:pPr algn="l"/>
            <a:r>
              <a:rPr sz="1800" b="1" i="0">
                <a:solidFill>
                  <a:srgbClr val="0B2545"/>
                </a:solidFill>
                <a:latin typeface="Calibri"/>
              </a:rPr>
              <a:t>Affectation lente</a:t>
            </a:r>
          </a:p>
        </p:txBody>
      </p:sp>
      <p:sp>
        <p:nvSpPr>
          <p:cNvPr id="16" name="TextBox 15"/>
          <p:cNvSpPr txBox="1"/>
          <p:nvPr/>
        </p:nvSpPr>
        <p:spPr>
          <a:xfrm>
            <a:off x="804672" y="2697480"/>
            <a:ext cx="4983480" cy="960120"/>
          </a:xfrm>
          <a:prstGeom prst="rect">
            <a:avLst/>
          </a:prstGeom>
          <a:noFill/>
        </p:spPr>
        <p:txBody>
          <a:bodyPr wrap="square" anchor="t"/>
          <a:lstStyle/>
          <a:p>
            <a:pPr algn="l"/>
            <a:r>
              <a:rPr sz="1500" b="0" i="0">
                <a:solidFill>
                  <a:srgbClr val="1F2937"/>
                </a:solidFill>
                <a:latin typeface="Calibri"/>
              </a:rPr>
              <a:t>Tableurs, fichiers échangés, risque de dépassement de capacité ou de double affectation.</a:t>
            </a:r>
          </a:p>
        </p:txBody>
      </p:sp>
      <p:sp>
        <p:nvSpPr>
          <p:cNvPr id="17" name="Rounded Rectangle 16"/>
          <p:cNvSpPr/>
          <p:nvPr/>
        </p:nvSpPr>
        <p:spPr>
          <a:xfrm>
            <a:off x="6245352" y="1920240"/>
            <a:ext cx="5577840" cy="19659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45352" y="1920240"/>
            <a:ext cx="128016" cy="1965960"/>
          </a:xfrm>
          <a:prstGeom prst="round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1112" y="2176272"/>
            <a:ext cx="4983480" cy="457200"/>
          </a:xfrm>
          <a:prstGeom prst="rect">
            <a:avLst/>
          </a:prstGeom>
          <a:noFill/>
        </p:spPr>
        <p:txBody>
          <a:bodyPr wrap="square" anchor="t"/>
          <a:lstStyle/>
          <a:p>
            <a:pPr algn="l"/>
            <a:r>
              <a:rPr sz="1800" b="1" i="0">
                <a:solidFill>
                  <a:srgbClr val="0B2545"/>
                </a:solidFill>
                <a:latin typeface="Calibri"/>
              </a:rPr>
              <a:t>Inéquité géographique</a:t>
            </a:r>
          </a:p>
        </p:txBody>
      </p:sp>
      <p:sp>
        <p:nvSpPr>
          <p:cNvPr id="20" name="TextBox 19"/>
          <p:cNvSpPr txBox="1"/>
          <p:nvPr/>
        </p:nvSpPr>
        <p:spPr>
          <a:xfrm>
            <a:off x="6611112" y="2697480"/>
            <a:ext cx="4983480" cy="960120"/>
          </a:xfrm>
          <a:prstGeom prst="rect">
            <a:avLst/>
          </a:prstGeom>
          <a:noFill/>
        </p:spPr>
        <p:txBody>
          <a:bodyPr wrap="square" anchor="t"/>
          <a:lstStyle/>
          <a:p>
            <a:pPr algn="l"/>
            <a:r>
              <a:rPr sz="1500" b="0" i="0">
                <a:solidFill>
                  <a:srgbClr val="1F2937"/>
                </a:solidFill>
                <a:latin typeface="Calibri"/>
              </a:rPr>
              <a:t>Pas de logique unique : un candidat peut être envoyé loin de sa ville de résidence.</a:t>
            </a:r>
          </a:p>
        </p:txBody>
      </p:sp>
      <p:sp>
        <p:nvSpPr>
          <p:cNvPr id="21" name="Rounded Rectangle 20"/>
          <p:cNvSpPr/>
          <p:nvPr/>
        </p:nvSpPr>
        <p:spPr>
          <a:xfrm>
            <a:off x="438912" y="4069080"/>
            <a:ext cx="5577840" cy="19659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8912" y="4069080"/>
            <a:ext cx="128016" cy="1965960"/>
          </a:xfrm>
          <a:prstGeom prst="round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325112"/>
            <a:ext cx="4983480" cy="457200"/>
          </a:xfrm>
          <a:prstGeom prst="rect">
            <a:avLst/>
          </a:prstGeom>
          <a:noFill/>
        </p:spPr>
        <p:txBody>
          <a:bodyPr wrap="square" anchor="t"/>
          <a:lstStyle/>
          <a:p>
            <a:pPr algn="l"/>
            <a:r>
              <a:rPr sz="1800" b="1" i="0">
                <a:solidFill>
                  <a:srgbClr val="0B2545"/>
                </a:solidFill>
                <a:latin typeface="Calibri"/>
              </a:rPr>
              <a:t>Convocations fragmentées</a:t>
            </a:r>
          </a:p>
        </p:txBody>
      </p:sp>
      <p:sp>
        <p:nvSpPr>
          <p:cNvPr id="24" name="TextBox 23"/>
          <p:cNvSpPr txBox="1"/>
          <p:nvPr/>
        </p:nvSpPr>
        <p:spPr>
          <a:xfrm>
            <a:off x="804672" y="4846320"/>
            <a:ext cx="4983480" cy="960120"/>
          </a:xfrm>
          <a:prstGeom prst="rect">
            <a:avLst/>
          </a:prstGeom>
          <a:noFill/>
        </p:spPr>
        <p:txBody>
          <a:bodyPr wrap="square" anchor="t"/>
          <a:lstStyle/>
          <a:p>
            <a:pPr algn="l"/>
            <a:r>
              <a:rPr sz="1500" b="0" i="0">
                <a:solidFill>
                  <a:srgbClr val="1F2937"/>
                </a:solidFill>
                <a:latin typeface="Calibri"/>
              </a:rPr>
              <a:t>Envois individuels, retards, erreur d'adresse, salle ou place manquante.</a:t>
            </a:r>
          </a:p>
        </p:txBody>
      </p:sp>
      <p:sp>
        <p:nvSpPr>
          <p:cNvPr id="25" name="Rounded Rectangle 24"/>
          <p:cNvSpPr/>
          <p:nvPr/>
        </p:nvSpPr>
        <p:spPr>
          <a:xfrm>
            <a:off x="6245352" y="4069080"/>
            <a:ext cx="5577840" cy="19659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45352" y="4069080"/>
            <a:ext cx="128016" cy="1965960"/>
          </a:xfrm>
          <a:prstGeom prst="round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11112" y="4325112"/>
            <a:ext cx="4983480" cy="457200"/>
          </a:xfrm>
          <a:prstGeom prst="rect">
            <a:avLst/>
          </a:prstGeom>
          <a:noFill/>
        </p:spPr>
        <p:txBody>
          <a:bodyPr wrap="square" anchor="t"/>
          <a:lstStyle/>
          <a:p>
            <a:pPr algn="l"/>
            <a:r>
              <a:rPr sz="1800" b="1" i="0">
                <a:solidFill>
                  <a:srgbClr val="0B2545"/>
                </a:solidFill>
                <a:latin typeface="Calibri"/>
              </a:rPr>
              <a:t>Faible visibilité</a:t>
            </a:r>
          </a:p>
        </p:txBody>
      </p:sp>
      <p:sp>
        <p:nvSpPr>
          <p:cNvPr id="28" name="TextBox 27"/>
          <p:cNvSpPr txBox="1"/>
          <p:nvPr/>
        </p:nvSpPr>
        <p:spPr>
          <a:xfrm>
            <a:off x="6611112" y="4846320"/>
            <a:ext cx="4983480" cy="960120"/>
          </a:xfrm>
          <a:prstGeom prst="rect">
            <a:avLst/>
          </a:prstGeom>
          <a:noFill/>
        </p:spPr>
        <p:txBody>
          <a:bodyPr wrap="square" anchor="t"/>
          <a:lstStyle/>
          <a:p>
            <a:pPr algn="l"/>
            <a:r>
              <a:rPr sz="1500" b="0" i="0">
                <a:solidFill>
                  <a:srgbClr val="1F2937"/>
                </a:solidFill>
                <a:latin typeface="Calibri"/>
              </a:rPr>
              <a:t>Pas de vue consolidée : salles saturées, non affectés, historique des envois.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1  ·  Contexte et problématique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Problématique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6 / 29</a:t>
            </a:r>
          </a:p>
        </p:txBody>
      </p:sp>
      <p:sp>
        <p:nvSpPr>
          <p:cNvPr id="12" name="Rounded Rectangle 11"/>
          <p:cNvSpPr/>
          <p:nvPr/>
        </p:nvSpPr>
        <p:spPr>
          <a:xfrm>
            <a:off x="438912" y="1417320"/>
            <a:ext cx="11292840" cy="2331720"/>
          </a:xfrm>
          <a:prstGeom prst="roundRect">
            <a:avLst>
              <a:gd name="adj" fmla="val 5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600200"/>
            <a:ext cx="10652760" cy="1965960"/>
          </a:xfrm>
          <a:prstGeom prst="rect">
            <a:avLst/>
          </a:prstGeom>
          <a:noFill/>
        </p:spPr>
        <p:txBody>
          <a:bodyPr wrap="square" anchor="ctr"/>
          <a:lstStyle/>
          <a:p>
            <a:pPr algn="ctr"/>
            <a:r>
              <a:rPr sz="2000" b="0" i="0">
                <a:solidFill>
                  <a:srgbClr val="FFFFFF"/>
                </a:solidFill>
                <a:latin typeface="Calibri"/>
              </a:rPr>
              <a:t>Comment concevoir une plateforme qui dématérialise la gestion des candidatures, automatise la répartition dans les salles, fiabilise les convocations, et offre aux gestionnaires un suivi opérationnel clair ?</a:t>
            </a:r>
          </a:p>
        </p:txBody>
      </p:sp>
      <p:sp>
        <p:nvSpPr>
          <p:cNvPr id="14" name="Rounded Rectangle 13"/>
          <p:cNvSpPr/>
          <p:nvPr/>
        </p:nvSpPr>
        <p:spPr>
          <a:xfrm>
            <a:off x="438912" y="3977639"/>
            <a:ext cx="2761488" cy="233172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 y="4133087"/>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4133087"/>
            <a:ext cx="384048" cy="384048"/>
          </a:xfrm>
          <a:prstGeom prst="rect">
            <a:avLst/>
          </a:prstGeom>
          <a:noFill/>
        </p:spPr>
        <p:txBody>
          <a:bodyPr wrap="square" anchor="ctr"/>
          <a:lstStyle/>
          <a:p>
            <a:pPr algn="ctr"/>
            <a:r>
              <a:rPr sz="1300" b="1" i="0">
                <a:solidFill>
                  <a:srgbClr val="FFFFFF"/>
                </a:solidFill>
                <a:latin typeface="Calibri"/>
              </a:rPr>
              <a:t>1</a:t>
            </a:r>
          </a:p>
        </p:txBody>
      </p:sp>
      <p:sp>
        <p:nvSpPr>
          <p:cNvPr id="17" name="TextBox 16"/>
          <p:cNvSpPr txBox="1"/>
          <p:nvPr/>
        </p:nvSpPr>
        <p:spPr>
          <a:xfrm>
            <a:off x="603504" y="4645152"/>
            <a:ext cx="2432304" cy="411480"/>
          </a:xfrm>
          <a:prstGeom prst="rect">
            <a:avLst/>
          </a:prstGeom>
          <a:noFill/>
        </p:spPr>
        <p:txBody>
          <a:bodyPr wrap="square" anchor="t"/>
          <a:lstStyle/>
          <a:p>
            <a:pPr algn="l"/>
            <a:r>
              <a:rPr sz="1600" b="1" i="0">
                <a:solidFill>
                  <a:srgbClr val="0B2545"/>
                </a:solidFill>
                <a:latin typeface="Calibri"/>
              </a:rPr>
              <a:t>Centraliser</a:t>
            </a:r>
          </a:p>
        </p:txBody>
      </p:sp>
      <p:sp>
        <p:nvSpPr>
          <p:cNvPr id="18" name="TextBox 17"/>
          <p:cNvSpPr txBox="1"/>
          <p:nvPr/>
        </p:nvSpPr>
        <p:spPr>
          <a:xfrm>
            <a:off x="603504" y="5047488"/>
            <a:ext cx="2432304" cy="1051560"/>
          </a:xfrm>
          <a:prstGeom prst="rect">
            <a:avLst/>
          </a:prstGeom>
          <a:noFill/>
        </p:spPr>
        <p:txBody>
          <a:bodyPr wrap="square" anchor="t"/>
          <a:lstStyle/>
          <a:p>
            <a:pPr algn="l"/>
            <a:r>
              <a:rPr sz="1300" b="0" i="0">
                <a:solidFill>
                  <a:srgbClr val="1F2937"/>
                </a:solidFill>
                <a:latin typeface="Calibri"/>
              </a:rPr>
              <a:t>Concours, lieux d'examen, candidats importés par Excel.</a:t>
            </a:r>
          </a:p>
        </p:txBody>
      </p:sp>
      <p:sp>
        <p:nvSpPr>
          <p:cNvPr id="19" name="Rounded Rectangle 18"/>
          <p:cNvSpPr/>
          <p:nvPr/>
        </p:nvSpPr>
        <p:spPr>
          <a:xfrm>
            <a:off x="3346704" y="3977639"/>
            <a:ext cx="2761488" cy="233172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511296" y="4133087"/>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1296" y="4133087"/>
            <a:ext cx="384048" cy="384048"/>
          </a:xfrm>
          <a:prstGeom prst="rect">
            <a:avLst/>
          </a:prstGeom>
          <a:noFill/>
        </p:spPr>
        <p:txBody>
          <a:bodyPr wrap="square" anchor="ctr"/>
          <a:lstStyle/>
          <a:p>
            <a:pPr algn="ctr"/>
            <a:r>
              <a:rPr sz="1300" b="1" i="0">
                <a:solidFill>
                  <a:srgbClr val="FFFFFF"/>
                </a:solidFill>
                <a:latin typeface="Calibri"/>
              </a:rPr>
              <a:t>2</a:t>
            </a:r>
          </a:p>
        </p:txBody>
      </p:sp>
      <p:sp>
        <p:nvSpPr>
          <p:cNvPr id="22" name="TextBox 21"/>
          <p:cNvSpPr txBox="1"/>
          <p:nvPr/>
        </p:nvSpPr>
        <p:spPr>
          <a:xfrm>
            <a:off x="3511296" y="4645152"/>
            <a:ext cx="2432304" cy="411480"/>
          </a:xfrm>
          <a:prstGeom prst="rect">
            <a:avLst/>
          </a:prstGeom>
          <a:noFill/>
        </p:spPr>
        <p:txBody>
          <a:bodyPr wrap="square" anchor="t"/>
          <a:lstStyle/>
          <a:p>
            <a:pPr algn="l"/>
            <a:r>
              <a:rPr sz="1600" b="1" i="0">
                <a:solidFill>
                  <a:srgbClr val="0B2545"/>
                </a:solidFill>
                <a:latin typeface="Calibri"/>
              </a:rPr>
              <a:t>Automatiser</a:t>
            </a:r>
          </a:p>
        </p:txBody>
      </p:sp>
      <p:sp>
        <p:nvSpPr>
          <p:cNvPr id="23" name="TextBox 22"/>
          <p:cNvSpPr txBox="1"/>
          <p:nvPr/>
        </p:nvSpPr>
        <p:spPr>
          <a:xfrm>
            <a:off x="3511296" y="5047488"/>
            <a:ext cx="2432304" cy="1051560"/>
          </a:xfrm>
          <a:prstGeom prst="rect">
            <a:avLst/>
          </a:prstGeom>
          <a:noFill/>
        </p:spPr>
        <p:txBody>
          <a:bodyPr wrap="square" anchor="t"/>
          <a:lstStyle/>
          <a:p>
            <a:pPr algn="l"/>
            <a:r>
              <a:rPr sz="1300" b="0" i="0">
                <a:solidFill>
                  <a:srgbClr val="1F2937"/>
                </a:solidFill>
                <a:latin typeface="Calibri"/>
              </a:rPr>
              <a:t>Répartition selon la capacité et la proximité géographique.</a:t>
            </a:r>
          </a:p>
        </p:txBody>
      </p:sp>
      <p:sp>
        <p:nvSpPr>
          <p:cNvPr id="24" name="Rounded Rectangle 23"/>
          <p:cNvSpPr/>
          <p:nvPr/>
        </p:nvSpPr>
        <p:spPr>
          <a:xfrm>
            <a:off x="6254496" y="3977639"/>
            <a:ext cx="2761488" cy="233172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19088" y="4133087"/>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4133087"/>
            <a:ext cx="384048" cy="384048"/>
          </a:xfrm>
          <a:prstGeom prst="rect">
            <a:avLst/>
          </a:prstGeom>
          <a:noFill/>
        </p:spPr>
        <p:txBody>
          <a:bodyPr wrap="square" anchor="ctr"/>
          <a:lstStyle/>
          <a:p>
            <a:pPr algn="ctr"/>
            <a:r>
              <a:rPr sz="1300" b="1" i="0">
                <a:solidFill>
                  <a:srgbClr val="FFFFFF"/>
                </a:solidFill>
                <a:latin typeface="Calibri"/>
              </a:rPr>
              <a:t>3</a:t>
            </a:r>
          </a:p>
        </p:txBody>
      </p:sp>
      <p:sp>
        <p:nvSpPr>
          <p:cNvPr id="27" name="TextBox 26"/>
          <p:cNvSpPr txBox="1"/>
          <p:nvPr/>
        </p:nvSpPr>
        <p:spPr>
          <a:xfrm>
            <a:off x="6419088" y="4645152"/>
            <a:ext cx="2432304" cy="411480"/>
          </a:xfrm>
          <a:prstGeom prst="rect">
            <a:avLst/>
          </a:prstGeom>
          <a:noFill/>
        </p:spPr>
        <p:txBody>
          <a:bodyPr wrap="square" anchor="t"/>
          <a:lstStyle/>
          <a:p>
            <a:pPr algn="l"/>
            <a:r>
              <a:rPr sz="1600" b="1" i="0">
                <a:solidFill>
                  <a:srgbClr val="0B2545"/>
                </a:solidFill>
                <a:latin typeface="Calibri"/>
              </a:rPr>
              <a:t>Notifier</a:t>
            </a:r>
          </a:p>
        </p:txBody>
      </p:sp>
      <p:sp>
        <p:nvSpPr>
          <p:cNvPr id="28" name="TextBox 27"/>
          <p:cNvSpPr txBox="1"/>
          <p:nvPr/>
        </p:nvSpPr>
        <p:spPr>
          <a:xfrm>
            <a:off x="6419088" y="5047488"/>
            <a:ext cx="2432304" cy="1051560"/>
          </a:xfrm>
          <a:prstGeom prst="rect">
            <a:avLst/>
          </a:prstGeom>
          <a:noFill/>
        </p:spPr>
        <p:txBody>
          <a:bodyPr wrap="square" anchor="t"/>
          <a:lstStyle/>
          <a:p>
            <a:pPr algn="l"/>
            <a:r>
              <a:rPr sz="1300" b="0" i="0">
                <a:solidFill>
                  <a:srgbClr val="1F2937"/>
                </a:solidFill>
                <a:latin typeface="Calibri"/>
              </a:rPr>
              <a:t>PDF de convocation et envoi groupé par e-mail.</a:t>
            </a:r>
          </a:p>
        </p:txBody>
      </p:sp>
      <p:sp>
        <p:nvSpPr>
          <p:cNvPr id="29" name="Rounded Rectangle 28"/>
          <p:cNvSpPr/>
          <p:nvPr/>
        </p:nvSpPr>
        <p:spPr>
          <a:xfrm>
            <a:off x="9162288" y="3977639"/>
            <a:ext cx="2761488" cy="233172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326880" y="4133087"/>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4133087"/>
            <a:ext cx="384048" cy="384048"/>
          </a:xfrm>
          <a:prstGeom prst="rect">
            <a:avLst/>
          </a:prstGeom>
          <a:noFill/>
        </p:spPr>
        <p:txBody>
          <a:bodyPr wrap="square" anchor="ctr"/>
          <a:lstStyle/>
          <a:p>
            <a:pPr algn="ctr"/>
            <a:r>
              <a:rPr sz="1300" b="1" i="0">
                <a:solidFill>
                  <a:srgbClr val="FFFFFF"/>
                </a:solidFill>
                <a:latin typeface="Calibri"/>
              </a:rPr>
              <a:t>4</a:t>
            </a:r>
          </a:p>
        </p:txBody>
      </p:sp>
      <p:sp>
        <p:nvSpPr>
          <p:cNvPr id="32" name="TextBox 31"/>
          <p:cNvSpPr txBox="1"/>
          <p:nvPr/>
        </p:nvSpPr>
        <p:spPr>
          <a:xfrm>
            <a:off x="9326880" y="4645152"/>
            <a:ext cx="2432304" cy="411480"/>
          </a:xfrm>
          <a:prstGeom prst="rect">
            <a:avLst/>
          </a:prstGeom>
          <a:noFill/>
        </p:spPr>
        <p:txBody>
          <a:bodyPr wrap="square" anchor="t"/>
          <a:lstStyle/>
          <a:p>
            <a:pPr algn="l"/>
            <a:r>
              <a:rPr sz="1600" b="1" i="0">
                <a:solidFill>
                  <a:srgbClr val="0B2545"/>
                </a:solidFill>
                <a:latin typeface="Calibri"/>
              </a:rPr>
              <a:t>Piloter</a:t>
            </a:r>
          </a:p>
        </p:txBody>
      </p:sp>
      <p:sp>
        <p:nvSpPr>
          <p:cNvPr id="33" name="TextBox 32"/>
          <p:cNvSpPr txBox="1"/>
          <p:nvPr/>
        </p:nvSpPr>
        <p:spPr>
          <a:xfrm>
            <a:off x="9326880" y="5047488"/>
            <a:ext cx="2432304" cy="1051560"/>
          </a:xfrm>
          <a:prstGeom prst="rect">
            <a:avLst/>
          </a:prstGeom>
          <a:noFill/>
        </p:spPr>
        <p:txBody>
          <a:bodyPr wrap="square" anchor="t"/>
          <a:lstStyle/>
          <a:p>
            <a:pPr algn="l"/>
            <a:r>
              <a:rPr sz="1300" b="0" i="0">
                <a:solidFill>
                  <a:srgbClr val="1F2937"/>
                </a:solidFill>
                <a:latin typeface="Calibri"/>
              </a:rPr>
              <a:t>Tableau de bord : effectifs, salles, envois.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2  ·  Objectifs et démarche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Objectifs du projet</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7 / 29</a:t>
            </a:r>
          </a:p>
        </p:txBody>
      </p:sp>
      <p:sp>
        <p:nvSpPr>
          <p:cNvPr id="12" name="Rounded Rectangle 11"/>
          <p:cNvSpPr/>
          <p:nvPr/>
        </p:nvSpPr>
        <p:spPr>
          <a:xfrm>
            <a:off x="438912" y="1335024"/>
            <a:ext cx="11292840" cy="1051560"/>
          </a:xfrm>
          <a:prstGeom prst="roundRect">
            <a:avLst>
              <a:gd name="adj" fmla="val 6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444752"/>
            <a:ext cx="10881360" cy="256032"/>
          </a:xfrm>
          <a:prstGeom prst="rect">
            <a:avLst/>
          </a:prstGeom>
          <a:noFill/>
        </p:spPr>
        <p:txBody>
          <a:bodyPr wrap="square" anchor="t"/>
          <a:lstStyle/>
          <a:p>
            <a:pPr algn="l"/>
            <a:r>
              <a:rPr sz="1200" b="1" i="0">
                <a:solidFill>
                  <a:srgbClr val="99DDD6"/>
                </a:solidFill>
                <a:latin typeface="Calibri"/>
              </a:rPr>
              <a:t>Objectif général</a:t>
            </a:r>
          </a:p>
        </p:txBody>
      </p:sp>
      <p:sp>
        <p:nvSpPr>
          <p:cNvPr id="14" name="TextBox 13"/>
          <p:cNvSpPr txBox="1"/>
          <p:nvPr/>
        </p:nvSpPr>
        <p:spPr>
          <a:xfrm>
            <a:off x="658368" y="1719072"/>
            <a:ext cx="10881360" cy="530352"/>
          </a:xfrm>
          <a:prstGeom prst="rect">
            <a:avLst/>
          </a:prstGeom>
          <a:noFill/>
        </p:spPr>
        <p:txBody>
          <a:bodyPr wrap="square" anchor="t"/>
          <a:lstStyle/>
          <a:p>
            <a:pPr algn="l"/>
            <a:r>
              <a:rPr sz="1600" b="0" i="0">
                <a:solidFill>
                  <a:srgbClr val="FFFFFF"/>
                </a:solidFill>
                <a:latin typeface="Calibri"/>
              </a:rPr>
              <a:t>Concevoir et réaliser une plateforme qui assiste les gestionnaires du MEF : répartition automatique des candidats et convocations fiables.</a:t>
            </a:r>
          </a:p>
        </p:txBody>
      </p:sp>
      <p:sp>
        <p:nvSpPr>
          <p:cNvPr id="15" name="Rounded Rectangle 14"/>
          <p:cNvSpPr/>
          <p:nvPr/>
        </p:nvSpPr>
        <p:spPr>
          <a:xfrm>
            <a:off x="438912" y="2560320"/>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5216" y="2706624"/>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2706624"/>
            <a:ext cx="365760" cy="365760"/>
          </a:xfrm>
          <a:prstGeom prst="rect">
            <a:avLst/>
          </a:prstGeom>
          <a:noFill/>
        </p:spPr>
        <p:txBody>
          <a:bodyPr wrap="square" anchor="ctr"/>
          <a:lstStyle/>
          <a:p>
            <a:pPr algn="ctr"/>
            <a:r>
              <a:rPr sz="1100" b="1" i="0">
                <a:solidFill>
                  <a:srgbClr val="FFFFFF"/>
                </a:solidFill>
                <a:latin typeface="Calibri"/>
              </a:rPr>
              <a:t>01</a:t>
            </a:r>
          </a:p>
        </p:txBody>
      </p:sp>
      <p:sp>
        <p:nvSpPr>
          <p:cNvPr id="18" name="TextBox 17"/>
          <p:cNvSpPr txBox="1"/>
          <p:nvPr/>
        </p:nvSpPr>
        <p:spPr>
          <a:xfrm>
            <a:off x="1024128" y="2724912"/>
            <a:ext cx="1984248" cy="347472"/>
          </a:xfrm>
          <a:prstGeom prst="rect">
            <a:avLst/>
          </a:prstGeom>
          <a:noFill/>
        </p:spPr>
        <p:txBody>
          <a:bodyPr wrap="square" anchor="t"/>
          <a:lstStyle/>
          <a:p>
            <a:pPr algn="l"/>
            <a:r>
              <a:rPr sz="1500" b="1" i="0">
                <a:solidFill>
                  <a:srgbClr val="0B2545"/>
                </a:solidFill>
                <a:latin typeface="Calibri"/>
              </a:rPr>
              <a:t>Référentiel</a:t>
            </a:r>
          </a:p>
        </p:txBody>
      </p:sp>
      <p:sp>
        <p:nvSpPr>
          <p:cNvPr id="19" name="TextBox 18"/>
          <p:cNvSpPr txBox="1"/>
          <p:nvPr/>
        </p:nvSpPr>
        <p:spPr>
          <a:xfrm>
            <a:off x="603504" y="3182112"/>
            <a:ext cx="2432304" cy="1024128"/>
          </a:xfrm>
          <a:prstGeom prst="rect">
            <a:avLst/>
          </a:prstGeom>
          <a:noFill/>
        </p:spPr>
        <p:txBody>
          <a:bodyPr wrap="square" anchor="t"/>
          <a:lstStyle/>
          <a:p>
            <a:pPr algn="l"/>
            <a:r>
              <a:rPr sz="1300" b="0" i="0">
                <a:solidFill>
                  <a:srgbClr val="1F2937"/>
                </a:solidFill>
                <a:latin typeface="Calibri"/>
              </a:rPr>
              <a:t>Concours, centres, établissements et salles, avec capacité.</a:t>
            </a:r>
          </a:p>
        </p:txBody>
      </p:sp>
      <p:sp>
        <p:nvSpPr>
          <p:cNvPr id="20" name="Rounded Rectangle 19"/>
          <p:cNvSpPr/>
          <p:nvPr/>
        </p:nvSpPr>
        <p:spPr>
          <a:xfrm>
            <a:off x="3346704" y="2560320"/>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93008" y="2706624"/>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2706624"/>
            <a:ext cx="365760" cy="365760"/>
          </a:xfrm>
          <a:prstGeom prst="rect">
            <a:avLst/>
          </a:prstGeom>
          <a:noFill/>
        </p:spPr>
        <p:txBody>
          <a:bodyPr wrap="square" anchor="ctr"/>
          <a:lstStyle/>
          <a:p>
            <a:pPr algn="ctr"/>
            <a:r>
              <a:rPr sz="1100" b="1" i="0">
                <a:solidFill>
                  <a:srgbClr val="FFFFFF"/>
                </a:solidFill>
                <a:latin typeface="Calibri"/>
              </a:rPr>
              <a:t>02</a:t>
            </a:r>
          </a:p>
        </p:txBody>
      </p:sp>
      <p:sp>
        <p:nvSpPr>
          <p:cNvPr id="23" name="TextBox 22"/>
          <p:cNvSpPr txBox="1"/>
          <p:nvPr/>
        </p:nvSpPr>
        <p:spPr>
          <a:xfrm>
            <a:off x="3931920" y="2724912"/>
            <a:ext cx="1984248" cy="347472"/>
          </a:xfrm>
          <a:prstGeom prst="rect">
            <a:avLst/>
          </a:prstGeom>
          <a:noFill/>
        </p:spPr>
        <p:txBody>
          <a:bodyPr wrap="square" anchor="t"/>
          <a:lstStyle/>
          <a:p>
            <a:pPr algn="l"/>
            <a:r>
              <a:rPr sz="1500" b="1" i="0">
                <a:solidFill>
                  <a:srgbClr val="0B2545"/>
                </a:solidFill>
                <a:latin typeface="Calibri"/>
              </a:rPr>
              <a:t>Candidats</a:t>
            </a:r>
          </a:p>
        </p:txBody>
      </p:sp>
      <p:sp>
        <p:nvSpPr>
          <p:cNvPr id="24" name="TextBox 23"/>
          <p:cNvSpPr txBox="1"/>
          <p:nvPr/>
        </p:nvSpPr>
        <p:spPr>
          <a:xfrm>
            <a:off x="3511296" y="3182112"/>
            <a:ext cx="2432304" cy="1024128"/>
          </a:xfrm>
          <a:prstGeom prst="rect">
            <a:avLst/>
          </a:prstGeom>
          <a:noFill/>
        </p:spPr>
        <p:txBody>
          <a:bodyPr wrap="square" anchor="t"/>
          <a:lstStyle/>
          <a:p>
            <a:pPr algn="l"/>
            <a:r>
              <a:rPr sz="1300" b="0" i="0">
                <a:solidFill>
                  <a:srgbClr val="1F2937"/>
                </a:solidFill>
                <a:latin typeface="Calibri"/>
              </a:rPr>
              <a:t>Import Excel, consultation, mise à jour, suppression, affectation manuelle.</a:t>
            </a:r>
          </a:p>
        </p:txBody>
      </p:sp>
      <p:sp>
        <p:nvSpPr>
          <p:cNvPr id="25" name="Rounded Rectangle 24"/>
          <p:cNvSpPr/>
          <p:nvPr/>
        </p:nvSpPr>
        <p:spPr>
          <a:xfrm>
            <a:off x="6254496" y="2560320"/>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0" y="2706624"/>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706624"/>
            <a:ext cx="365760" cy="365760"/>
          </a:xfrm>
          <a:prstGeom prst="rect">
            <a:avLst/>
          </a:prstGeom>
          <a:noFill/>
        </p:spPr>
        <p:txBody>
          <a:bodyPr wrap="square" anchor="ctr"/>
          <a:lstStyle/>
          <a:p>
            <a:pPr algn="ctr"/>
            <a:r>
              <a:rPr sz="1100" b="1" i="0">
                <a:solidFill>
                  <a:srgbClr val="FFFFFF"/>
                </a:solidFill>
                <a:latin typeface="Calibri"/>
              </a:rPr>
              <a:t>03</a:t>
            </a:r>
          </a:p>
        </p:txBody>
      </p:sp>
      <p:sp>
        <p:nvSpPr>
          <p:cNvPr id="28" name="TextBox 27"/>
          <p:cNvSpPr txBox="1"/>
          <p:nvPr/>
        </p:nvSpPr>
        <p:spPr>
          <a:xfrm>
            <a:off x="6839712" y="2724912"/>
            <a:ext cx="1984248" cy="347472"/>
          </a:xfrm>
          <a:prstGeom prst="rect">
            <a:avLst/>
          </a:prstGeom>
          <a:noFill/>
        </p:spPr>
        <p:txBody>
          <a:bodyPr wrap="square" anchor="t"/>
          <a:lstStyle/>
          <a:p>
            <a:pPr algn="l"/>
            <a:r>
              <a:rPr sz="1500" b="1" i="0">
                <a:solidFill>
                  <a:srgbClr val="0B2545"/>
                </a:solidFill>
                <a:latin typeface="Calibri"/>
              </a:rPr>
              <a:t>Répartition</a:t>
            </a:r>
          </a:p>
        </p:txBody>
      </p:sp>
      <p:sp>
        <p:nvSpPr>
          <p:cNvPr id="29" name="TextBox 28"/>
          <p:cNvSpPr txBox="1"/>
          <p:nvPr/>
        </p:nvSpPr>
        <p:spPr>
          <a:xfrm>
            <a:off x="6419088" y="3182112"/>
            <a:ext cx="2432304" cy="1024128"/>
          </a:xfrm>
          <a:prstGeom prst="rect">
            <a:avLst/>
          </a:prstGeom>
          <a:noFill/>
        </p:spPr>
        <p:txBody>
          <a:bodyPr wrap="square" anchor="t"/>
          <a:lstStyle/>
          <a:p>
            <a:pPr algn="l"/>
            <a:r>
              <a:rPr sz="1300" b="0" i="0">
                <a:solidFill>
                  <a:srgbClr val="1F2937"/>
                </a:solidFill>
                <a:latin typeface="Calibri"/>
              </a:rPr>
              <a:t>Affectation selon le concours, la capacité et la proximité (ville / région).</a:t>
            </a:r>
          </a:p>
        </p:txBody>
      </p:sp>
      <p:sp>
        <p:nvSpPr>
          <p:cNvPr id="30" name="Rounded Rectangle 29"/>
          <p:cNvSpPr/>
          <p:nvPr/>
        </p:nvSpPr>
        <p:spPr>
          <a:xfrm>
            <a:off x="9162288" y="2560320"/>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308592" y="2706624"/>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08592" y="2706624"/>
            <a:ext cx="365760" cy="365760"/>
          </a:xfrm>
          <a:prstGeom prst="rect">
            <a:avLst/>
          </a:prstGeom>
          <a:noFill/>
        </p:spPr>
        <p:txBody>
          <a:bodyPr wrap="square" anchor="ctr"/>
          <a:lstStyle/>
          <a:p>
            <a:pPr algn="ctr"/>
            <a:r>
              <a:rPr sz="1100" b="1" i="0">
                <a:solidFill>
                  <a:srgbClr val="FFFFFF"/>
                </a:solidFill>
                <a:latin typeface="Calibri"/>
              </a:rPr>
              <a:t>04</a:t>
            </a:r>
          </a:p>
        </p:txBody>
      </p:sp>
      <p:sp>
        <p:nvSpPr>
          <p:cNvPr id="33" name="TextBox 32"/>
          <p:cNvSpPr txBox="1"/>
          <p:nvPr/>
        </p:nvSpPr>
        <p:spPr>
          <a:xfrm>
            <a:off x="9747504" y="2724912"/>
            <a:ext cx="1984248" cy="347472"/>
          </a:xfrm>
          <a:prstGeom prst="rect">
            <a:avLst/>
          </a:prstGeom>
          <a:noFill/>
        </p:spPr>
        <p:txBody>
          <a:bodyPr wrap="square" anchor="t"/>
          <a:lstStyle/>
          <a:p>
            <a:pPr algn="l"/>
            <a:r>
              <a:rPr sz="1500" b="1" i="0">
                <a:solidFill>
                  <a:srgbClr val="0B2545"/>
                </a:solidFill>
                <a:latin typeface="Calibri"/>
              </a:rPr>
              <a:t>Convocations</a:t>
            </a:r>
          </a:p>
        </p:txBody>
      </p:sp>
      <p:sp>
        <p:nvSpPr>
          <p:cNvPr id="34" name="TextBox 33"/>
          <p:cNvSpPr txBox="1"/>
          <p:nvPr/>
        </p:nvSpPr>
        <p:spPr>
          <a:xfrm>
            <a:off x="9326880" y="3182112"/>
            <a:ext cx="2432304" cy="1024128"/>
          </a:xfrm>
          <a:prstGeom prst="rect">
            <a:avLst/>
          </a:prstGeom>
          <a:noFill/>
        </p:spPr>
        <p:txBody>
          <a:bodyPr wrap="square" anchor="t"/>
          <a:lstStyle/>
          <a:p>
            <a:pPr algn="l"/>
            <a:r>
              <a:rPr sz="1300" b="0" i="0">
                <a:solidFill>
                  <a:srgbClr val="1F2937"/>
                </a:solidFill>
                <a:latin typeface="Calibri"/>
              </a:rPr>
              <a:t>PDF (identité, lieu, place, date) et envoi groupé par e-mail.</a:t>
            </a:r>
          </a:p>
        </p:txBody>
      </p:sp>
      <p:sp>
        <p:nvSpPr>
          <p:cNvPr id="35" name="Rounded Rectangle 34"/>
          <p:cNvSpPr/>
          <p:nvPr/>
        </p:nvSpPr>
        <p:spPr>
          <a:xfrm>
            <a:off x="1892808" y="4498848"/>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039112" y="4645152"/>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39112" y="4645152"/>
            <a:ext cx="365760" cy="365760"/>
          </a:xfrm>
          <a:prstGeom prst="rect">
            <a:avLst/>
          </a:prstGeom>
          <a:noFill/>
        </p:spPr>
        <p:txBody>
          <a:bodyPr wrap="square" anchor="ctr"/>
          <a:lstStyle/>
          <a:p>
            <a:pPr algn="ctr"/>
            <a:r>
              <a:rPr sz="1100" b="1" i="0">
                <a:solidFill>
                  <a:srgbClr val="FFFFFF"/>
                </a:solidFill>
                <a:latin typeface="Calibri"/>
              </a:rPr>
              <a:t>05</a:t>
            </a:r>
          </a:p>
        </p:txBody>
      </p:sp>
      <p:sp>
        <p:nvSpPr>
          <p:cNvPr id="38" name="TextBox 37"/>
          <p:cNvSpPr txBox="1"/>
          <p:nvPr/>
        </p:nvSpPr>
        <p:spPr>
          <a:xfrm>
            <a:off x="2478024" y="4663440"/>
            <a:ext cx="1984248" cy="347472"/>
          </a:xfrm>
          <a:prstGeom prst="rect">
            <a:avLst/>
          </a:prstGeom>
          <a:noFill/>
        </p:spPr>
        <p:txBody>
          <a:bodyPr wrap="square" anchor="t"/>
          <a:lstStyle/>
          <a:p>
            <a:pPr algn="l"/>
            <a:r>
              <a:rPr sz="1500" b="1" i="0">
                <a:solidFill>
                  <a:srgbClr val="0B2545"/>
                </a:solidFill>
                <a:latin typeface="Calibri"/>
              </a:rPr>
              <a:t>Pilotage</a:t>
            </a:r>
          </a:p>
        </p:txBody>
      </p:sp>
      <p:sp>
        <p:nvSpPr>
          <p:cNvPr id="39" name="TextBox 38"/>
          <p:cNvSpPr txBox="1"/>
          <p:nvPr/>
        </p:nvSpPr>
        <p:spPr>
          <a:xfrm>
            <a:off x="2057400" y="5120640"/>
            <a:ext cx="2432304" cy="1024128"/>
          </a:xfrm>
          <a:prstGeom prst="rect">
            <a:avLst/>
          </a:prstGeom>
          <a:noFill/>
        </p:spPr>
        <p:txBody>
          <a:bodyPr wrap="square" anchor="t"/>
          <a:lstStyle/>
          <a:p>
            <a:pPr algn="l"/>
            <a:r>
              <a:rPr sz="1300" b="0" i="0">
                <a:solidFill>
                  <a:srgbClr val="1F2937"/>
                </a:solidFill>
                <a:latin typeface="Calibri"/>
              </a:rPr>
              <a:t>Tableau de bord : effectifs, remplissage, dernière exécution, historique.</a:t>
            </a:r>
          </a:p>
        </p:txBody>
      </p:sp>
      <p:sp>
        <p:nvSpPr>
          <p:cNvPr id="40" name="Rounded Rectangle 39"/>
          <p:cNvSpPr/>
          <p:nvPr/>
        </p:nvSpPr>
        <p:spPr>
          <a:xfrm>
            <a:off x="4800600" y="4498848"/>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946904" y="4645152"/>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46904" y="4645152"/>
            <a:ext cx="365760" cy="365760"/>
          </a:xfrm>
          <a:prstGeom prst="rect">
            <a:avLst/>
          </a:prstGeom>
          <a:noFill/>
        </p:spPr>
        <p:txBody>
          <a:bodyPr wrap="square" anchor="ctr"/>
          <a:lstStyle/>
          <a:p>
            <a:pPr algn="ctr"/>
            <a:r>
              <a:rPr sz="1100" b="1" i="0">
                <a:solidFill>
                  <a:srgbClr val="FFFFFF"/>
                </a:solidFill>
                <a:latin typeface="Calibri"/>
              </a:rPr>
              <a:t>06</a:t>
            </a:r>
          </a:p>
        </p:txBody>
      </p:sp>
      <p:sp>
        <p:nvSpPr>
          <p:cNvPr id="43" name="TextBox 42"/>
          <p:cNvSpPr txBox="1"/>
          <p:nvPr/>
        </p:nvSpPr>
        <p:spPr>
          <a:xfrm>
            <a:off x="5385816" y="4663440"/>
            <a:ext cx="1984248" cy="347472"/>
          </a:xfrm>
          <a:prstGeom prst="rect">
            <a:avLst/>
          </a:prstGeom>
          <a:noFill/>
        </p:spPr>
        <p:txBody>
          <a:bodyPr wrap="square" anchor="t"/>
          <a:lstStyle/>
          <a:p>
            <a:pPr algn="l"/>
            <a:r>
              <a:rPr sz="1500" b="1" i="0">
                <a:solidFill>
                  <a:srgbClr val="0B2545"/>
                </a:solidFill>
                <a:latin typeface="Calibri"/>
              </a:rPr>
              <a:t>Sécurité</a:t>
            </a:r>
          </a:p>
        </p:txBody>
      </p:sp>
      <p:sp>
        <p:nvSpPr>
          <p:cNvPr id="44" name="TextBox 43"/>
          <p:cNvSpPr txBox="1"/>
          <p:nvPr/>
        </p:nvSpPr>
        <p:spPr>
          <a:xfrm>
            <a:off x="4965192" y="5120640"/>
            <a:ext cx="2432304" cy="1024128"/>
          </a:xfrm>
          <a:prstGeom prst="rect">
            <a:avLst/>
          </a:prstGeom>
          <a:noFill/>
        </p:spPr>
        <p:txBody>
          <a:bodyPr wrap="square" anchor="t"/>
          <a:lstStyle/>
          <a:p>
            <a:pPr algn="l"/>
            <a:r>
              <a:rPr sz="1300" b="0" i="0">
                <a:solidFill>
                  <a:srgbClr val="1F2937"/>
                </a:solidFill>
                <a:latin typeface="Calibri"/>
              </a:rPr>
              <a:t>Rôles administrateur (lecture + comptes) et gestionnaire (pilotage).</a:t>
            </a:r>
          </a:p>
        </p:txBody>
      </p:sp>
      <p:sp>
        <p:nvSpPr>
          <p:cNvPr id="45" name="Rounded Rectangle 44"/>
          <p:cNvSpPr/>
          <p:nvPr/>
        </p:nvSpPr>
        <p:spPr>
          <a:xfrm>
            <a:off x="7708392" y="4498848"/>
            <a:ext cx="2761488" cy="17830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854696" y="4645152"/>
            <a:ext cx="365760" cy="365760"/>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54696" y="4645152"/>
            <a:ext cx="365760" cy="365760"/>
          </a:xfrm>
          <a:prstGeom prst="rect">
            <a:avLst/>
          </a:prstGeom>
          <a:noFill/>
        </p:spPr>
        <p:txBody>
          <a:bodyPr wrap="square" anchor="ctr"/>
          <a:lstStyle/>
          <a:p>
            <a:pPr algn="ctr"/>
            <a:r>
              <a:rPr sz="1100" b="1" i="0">
                <a:solidFill>
                  <a:srgbClr val="FFFFFF"/>
                </a:solidFill>
                <a:latin typeface="Calibri"/>
              </a:rPr>
              <a:t>07</a:t>
            </a:r>
          </a:p>
        </p:txBody>
      </p:sp>
      <p:sp>
        <p:nvSpPr>
          <p:cNvPr id="48" name="TextBox 47"/>
          <p:cNvSpPr txBox="1"/>
          <p:nvPr/>
        </p:nvSpPr>
        <p:spPr>
          <a:xfrm>
            <a:off x="8293608" y="4663440"/>
            <a:ext cx="1984248" cy="347472"/>
          </a:xfrm>
          <a:prstGeom prst="rect">
            <a:avLst/>
          </a:prstGeom>
          <a:noFill/>
        </p:spPr>
        <p:txBody>
          <a:bodyPr wrap="square" anchor="t"/>
          <a:lstStyle/>
          <a:p>
            <a:pPr algn="l"/>
            <a:r>
              <a:rPr sz="1500" b="1" i="0">
                <a:solidFill>
                  <a:srgbClr val="0B2545"/>
                </a:solidFill>
                <a:latin typeface="Calibri"/>
              </a:rPr>
              <a:t>Architecture</a:t>
            </a:r>
          </a:p>
        </p:txBody>
      </p:sp>
      <p:sp>
        <p:nvSpPr>
          <p:cNvPr id="49" name="TextBox 48"/>
          <p:cNvSpPr txBox="1"/>
          <p:nvPr/>
        </p:nvSpPr>
        <p:spPr>
          <a:xfrm>
            <a:off x="7872984" y="5120640"/>
            <a:ext cx="2432304" cy="1024128"/>
          </a:xfrm>
          <a:prstGeom prst="rect">
            <a:avLst/>
          </a:prstGeom>
          <a:noFill/>
        </p:spPr>
        <p:txBody>
          <a:bodyPr wrap="square" anchor="t"/>
          <a:lstStyle/>
          <a:p>
            <a:pPr algn="l"/>
            <a:r>
              <a:rPr sz="1300" b="0" i="0">
                <a:solidFill>
                  <a:srgbClr val="1F2937"/>
                </a:solidFill>
                <a:latin typeface="Calibri"/>
              </a:rPr>
              <a:t>Six microservices pour isoler les responsabilités et faciliter la maintenance.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2  ·  Objectifs et démarche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Démarche : un cycle en cascade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8 / 29</a:t>
            </a:r>
          </a:p>
        </p:txBody>
      </p:sp>
      <p:sp>
        <p:nvSpPr>
          <p:cNvPr id="12" name="TextBox 11"/>
          <p:cNvSpPr txBox="1"/>
          <p:nvPr/>
        </p:nvSpPr>
        <p:spPr>
          <a:xfrm>
            <a:off x="457200" y="1298448"/>
            <a:ext cx="11247120" cy="502920"/>
          </a:xfrm>
          <a:prstGeom prst="rect">
            <a:avLst/>
          </a:prstGeom>
          <a:noFill/>
        </p:spPr>
        <p:txBody>
          <a:bodyPr wrap="square" anchor="t"/>
          <a:lstStyle/>
          <a:p>
            <a:pPr algn="l"/>
            <a:r>
              <a:rPr sz="1500" b="0" i="0">
                <a:solidFill>
                  <a:srgbClr val="4B5563"/>
                </a:solidFill>
                <a:latin typeface="Calibri"/>
              </a:rPr>
              <a:t>Les besoins étaient figés dans le cahier des charges : conception d'abord, code ensuite. Travail seul, avec une validation de l'encadrant à chaque livrable.</a:t>
            </a:r>
          </a:p>
        </p:txBody>
      </p:sp>
      <p:sp>
        <p:nvSpPr>
          <p:cNvPr id="13" name="Rounded Rectangle 12"/>
          <p:cNvSpPr/>
          <p:nvPr/>
        </p:nvSpPr>
        <p:spPr>
          <a:xfrm>
            <a:off x="438912" y="1920240"/>
            <a:ext cx="2761488" cy="28803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 y="1920240"/>
            <a:ext cx="2761488" cy="6400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1920240"/>
            <a:ext cx="2761488" cy="640080"/>
          </a:xfrm>
          <a:prstGeom prst="rect">
            <a:avLst/>
          </a:prstGeom>
          <a:noFill/>
        </p:spPr>
        <p:txBody>
          <a:bodyPr wrap="square" anchor="ctr"/>
          <a:lstStyle/>
          <a:p>
            <a:pPr algn="ctr"/>
            <a:r>
              <a:rPr sz="1400" b="1" i="0">
                <a:solidFill>
                  <a:srgbClr val="FFFFFF"/>
                </a:solidFill>
                <a:latin typeface="Calibri"/>
              </a:rPr>
              <a:t>1  ·  Cahier des charges</a:t>
            </a:r>
          </a:p>
        </p:txBody>
      </p:sp>
      <p:sp>
        <p:nvSpPr>
          <p:cNvPr id="16" name="TextBox 15"/>
          <p:cNvSpPr txBox="1"/>
          <p:nvPr/>
        </p:nvSpPr>
        <p:spPr>
          <a:xfrm>
            <a:off x="603504" y="2724912"/>
            <a:ext cx="2432304" cy="1874519"/>
          </a:xfrm>
          <a:prstGeom prst="rect">
            <a:avLst/>
          </a:prstGeom>
          <a:noFill/>
        </p:spPr>
        <p:txBody>
          <a:bodyPr wrap="square" anchor="t"/>
          <a:lstStyle/>
          <a:p>
            <a:pPr algn="l"/>
            <a:r>
              <a:rPr sz="1400" b="0" i="0">
                <a:solidFill>
                  <a:srgbClr val="1F2937"/>
                </a:solidFill>
                <a:latin typeface="Calibri"/>
              </a:rPr>
              <a:t>Acteurs, parcours, import, répartition, convocations, rôles.</a:t>
            </a:r>
          </a:p>
        </p:txBody>
      </p:sp>
      <p:sp>
        <p:nvSpPr>
          <p:cNvPr id="17" name="Right Arrow 16"/>
          <p:cNvSpPr/>
          <p:nvPr/>
        </p:nvSpPr>
        <p:spPr>
          <a:xfrm>
            <a:off x="3090672" y="3154680"/>
            <a:ext cx="256032" cy="201168"/>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46704" y="1920240"/>
            <a:ext cx="2761488" cy="28803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46704" y="1920240"/>
            <a:ext cx="2761488" cy="6400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46704" y="1920240"/>
            <a:ext cx="2761488" cy="640080"/>
          </a:xfrm>
          <a:prstGeom prst="rect">
            <a:avLst/>
          </a:prstGeom>
          <a:noFill/>
        </p:spPr>
        <p:txBody>
          <a:bodyPr wrap="square" anchor="ctr"/>
          <a:lstStyle/>
          <a:p>
            <a:pPr algn="ctr"/>
            <a:r>
              <a:rPr sz="1400" b="1" i="0">
                <a:solidFill>
                  <a:srgbClr val="FFFFFF"/>
                </a:solidFill>
                <a:latin typeface="Calibri"/>
              </a:rPr>
              <a:t>2  ·  Conception UML</a:t>
            </a:r>
          </a:p>
        </p:txBody>
      </p:sp>
      <p:sp>
        <p:nvSpPr>
          <p:cNvPr id="21" name="TextBox 20"/>
          <p:cNvSpPr txBox="1"/>
          <p:nvPr/>
        </p:nvSpPr>
        <p:spPr>
          <a:xfrm>
            <a:off x="3511296" y="2724912"/>
            <a:ext cx="2432304" cy="1874519"/>
          </a:xfrm>
          <a:prstGeom prst="rect">
            <a:avLst/>
          </a:prstGeom>
          <a:noFill/>
        </p:spPr>
        <p:txBody>
          <a:bodyPr wrap="square" anchor="t"/>
          <a:lstStyle/>
          <a:p>
            <a:pPr algn="l"/>
            <a:r>
              <a:rPr sz="1400" b="0" i="0">
                <a:solidFill>
                  <a:srgbClr val="1F2937"/>
                </a:solidFill>
                <a:latin typeface="Calibri"/>
              </a:rPr>
              <a:t>Cas d'utilisation, séquences et classes avant d'écrire le code.</a:t>
            </a:r>
          </a:p>
        </p:txBody>
      </p:sp>
      <p:sp>
        <p:nvSpPr>
          <p:cNvPr id="22" name="Right Arrow 21"/>
          <p:cNvSpPr/>
          <p:nvPr/>
        </p:nvSpPr>
        <p:spPr>
          <a:xfrm>
            <a:off x="5998464" y="3154680"/>
            <a:ext cx="256032" cy="201168"/>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54496" y="1920240"/>
            <a:ext cx="2761488" cy="28803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54496" y="1920240"/>
            <a:ext cx="2761488" cy="6400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54496" y="1920240"/>
            <a:ext cx="2761488" cy="640080"/>
          </a:xfrm>
          <a:prstGeom prst="rect">
            <a:avLst/>
          </a:prstGeom>
          <a:noFill/>
        </p:spPr>
        <p:txBody>
          <a:bodyPr wrap="square" anchor="ctr"/>
          <a:lstStyle/>
          <a:p>
            <a:pPr algn="ctr"/>
            <a:r>
              <a:rPr sz="1400" b="1" i="0">
                <a:solidFill>
                  <a:srgbClr val="FFFFFF"/>
                </a:solidFill>
                <a:latin typeface="Calibri"/>
              </a:rPr>
              <a:t>3  ·  Réalisation</a:t>
            </a:r>
          </a:p>
        </p:txBody>
      </p:sp>
      <p:sp>
        <p:nvSpPr>
          <p:cNvPr id="26" name="TextBox 25"/>
          <p:cNvSpPr txBox="1"/>
          <p:nvPr/>
        </p:nvSpPr>
        <p:spPr>
          <a:xfrm>
            <a:off x="6419088" y="2724912"/>
            <a:ext cx="2432304" cy="1874519"/>
          </a:xfrm>
          <a:prstGeom prst="rect">
            <a:avLst/>
          </a:prstGeom>
          <a:noFill/>
        </p:spPr>
        <p:txBody>
          <a:bodyPr wrap="square" anchor="t"/>
          <a:lstStyle/>
          <a:p>
            <a:pPr algn="l"/>
            <a:r>
              <a:rPr sz="1400" b="0" i="0">
                <a:solidFill>
                  <a:srgbClr val="1F2937"/>
                </a:solidFill>
                <a:latin typeface="Calibri"/>
              </a:rPr>
              <a:t>Interface, microservices, base de données, moteur de répartition.</a:t>
            </a:r>
          </a:p>
        </p:txBody>
      </p:sp>
      <p:sp>
        <p:nvSpPr>
          <p:cNvPr id="27" name="Right Arrow 26"/>
          <p:cNvSpPr/>
          <p:nvPr/>
        </p:nvSpPr>
        <p:spPr>
          <a:xfrm>
            <a:off x="8906256" y="3154680"/>
            <a:ext cx="256032" cy="201168"/>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62288" y="1920240"/>
            <a:ext cx="2761488" cy="288036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62288" y="1920240"/>
            <a:ext cx="2761488" cy="6400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62288" y="1920240"/>
            <a:ext cx="2761488" cy="640080"/>
          </a:xfrm>
          <a:prstGeom prst="rect">
            <a:avLst/>
          </a:prstGeom>
          <a:noFill/>
        </p:spPr>
        <p:txBody>
          <a:bodyPr wrap="square" anchor="ctr"/>
          <a:lstStyle/>
          <a:p>
            <a:pPr algn="ctr"/>
            <a:r>
              <a:rPr sz="1400" b="1" i="0">
                <a:solidFill>
                  <a:srgbClr val="FFFFFF"/>
                </a:solidFill>
                <a:latin typeface="Calibri"/>
              </a:rPr>
              <a:t>4  ·  Tests</a:t>
            </a:r>
          </a:p>
        </p:txBody>
      </p:sp>
      <p:sp>
        <p:nvSpPr>
          <p:cNvPr id="31" name="TextBox 30"/>
          <p:cNvSpPr txBox="1"/>
          <p:nvPr/>
        </p:nvSpPr>
        <p:spPr>
          <a:xfrm>
            <a:off x="9326880" y="2724912"/>
            <a:ext cx="2432304" cy="1874519"/>
          </a:xfrm>
          <a:prstGeom prst="rect">
            <a:avLst/>
          </a:prstGeom>
          <a:noFill/>
        </p:spPr>
        <p:txBody>
          <a:bodyPr wrap="square" anchor="t"/>
          <a:lstStyle/>
          <a:p>
            <a:pPr algn="l"/>
            <a:r>
              <a:rPr sz="1400" b="0" i="0">
                <a:solidFill>
                  <a:srgbClr val="1F2937"/>
                </a:solidFill>
                <a:latin typeface="Calibri"/>
              </a:rPr>
              <a:t>Vérifications, corrections demandées par l'encadrant, contrôle d'ensemble.</a:t>
            </a:r>
          </a:p>
        </p:txBody>
      </p:sp>
      <p:sp>
        <p:nvSpPr>
          <p:cNvPr id="32" name="Rounded Rectangle 31"/>
          <p:cNvSpPr/>
          <p:nvPr/>
        </p:nvSpPr>
        <p:spPr>
          <a:xfrm>
            <a:off x="438912" y="4983480"/>
            <a:ext cx="11292840" cy="1325880"/>
          </a:xfrm>
          <a:prstGeom prst="roundRect">
            <a:avLst>
              <a:gd name="adj" fmla="val 6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102352"/>
            <a:ext cx="10972800" cy="292608"/>
          </a:xfrm>
          <a:prstGeom prst="rect">
            <a:avLst/>
          </a:prstGeom>
          <a:noFill/>
        </p:spPr>
        <p:txBody>
          <a:bodyPr wrap="square" anchor="t"/>
          <a:lstStyle/>
          <a:p>
            <a:pPr algn="l"/>
            <a:r>
              <a:rPr sz="1400" b="1" i="0">
                <a:solidFill>
                  <a:srgbClr val="99DDD6"/>
                </a:solidFill>
                <a:latin typeface="Calibri"/>
              </a:rPr>
              <a:t>Répartition des rôles</a:t>
            </a:r>
          </a:p>
        </p:txBody>
      </p:sp>
      <p:sp>
        <p:nvSpPr>
          <p:cNvPr id="34" name="TextBox 33"/>
          <p:cNvSpPr txBox="1"/>
          <p:nvPr/>
        </p:nvSpPr>
        <p:spPr>
          <a:xfrm>
            <a:off x="658368" y="5413248"/>
            <a:ext cx="10972800" cy="731520"/>
          </a:xfrm>
          <a:prstGeom prst="rect">
            <a:avLst/>
          </a:prstGeom>
          <a:noFill/>
        </p:spPr>
        <p:txBody>
          <a:bodyPr wrap="square" anchor="t"/>
          <a:lstStyle/>
          <a:p>
            <a:pPr algn="l"/>
            <a:r>
              <a:rPr sz="1500" b="0" i="0">
                <a:solidFill>
                  <a:srgbClr val="FFFFFF"/>
                </a:solidFill>
                <a:latin typeface="Calibri"/>
              </a:rPr>
              <a:t>Étudiant : analyse, UML, backend, interfaces, répartition, convocations et tests.   ·   Encadrant : définition du besoin, validation de chaque étape, pilotage.   ·   Pas de sprints courts : une porte qualité à la fin de chaque phase.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2  ·  Objectifs et démarche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Planification : cinq mois et demi de stage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9 / 29</a:t>
            </a:r>
          </a:p>
        </p:txBody>
      </p:sp>
      <p:sp>
        <p:nvSpPr>
          <p:cNvPr id="12" name="TextBox 11"/>
          <p:cNvSpPr txBox="1"/>
          <p:nvPr/>
        </p:nvSpPr>
        <p:spPr>
          <a:xfrm>
            <a:off x="457200" y="1280160"/>
            <a:ext cx="11247120" cy="292608"/>
          </a:xfrm>
          <a:prstGeom prst="rect">
            <a:avLst/>
          </a:prstGeom>
          <a:noFill/>
        </p:spPr>
        <p:txBody>
          <a:bodyPr wrap="square" anchor="t"/>
          <a:lstStyle/>
          <a:p>
            <a:pPr algn="l"/>
            <a:r>
              <a:rPr sz="1500" b="0" i="0">
                <a:solidFill>
                  <a:srgbClr val="4B5563"/>
                </a:solidFill>
                <a:latin typeface="Calibri"/>
              </a:rPr>
              <a:t>Du 6 mars au 17 août 2026  ·  enchaînement séquentiel validé avec l'encadrant</a:t>
            </a:r>
          </a:p>
        </p:txBody>
      </p:sp>
      <p:pic>
        <p:nvPicPr>
          <p:cNvPr id="13" name="Picture 12" descr="gantt.png"/>
          <p:cNvPicPr>
            <a:picLocks noChangeAspect="1"/>
          </p:cNvPicPr>
          <p:nvPr/>
        </p:nvPicPr>
        <p:blipFill>
          <a:blip r:embed="rId4"/>
          <a:stretch>
            <a:fillRect/>
          </a:stretch>
        </p:blipFill>
        <p:spPr>
          <a:xfrm>
            <a:off x="438912" y="2042750"/>
            <a:ext cx="11292840" cy="397950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3  ·  Analyse et conception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Les acteurs du système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10 / 29</a:t>
            </a:r>
          </a:p>
        </p:txBody>
      </p:sp>
      <p:sp>
        <p:nvSpPr>
          <p:cNvPr id="12" name="Rounded Rectangle 11"/>
          <p:cNvSpPr/>
          <p:nvPr/>
        </p:nvSpPr>
        <p:spPr>
          <a:xfrm>
            <a:off x="438912" y="1371600"/>
            <a:ext cx="5596128" cy="228600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 y="1371600"/>
            <a:ext cx="146304" cy="2286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572768"/>
            <a:ext cx="4983480" cy="384048"/>
          </a:xfrm>
          <a:prstGeom prst="rect">
            <a:avLst/>
          </a:prstGeom>
          <a:noFill/>
        </p:spPr>
        <p:txBody>
          <a:bodyPr wrap="square" anchor="t"/>
          <a:lstStyle/>
          <a:p>
            <a:pPr algn="l"/>
            <a:r>
              <a:rPr sz="2000" b="1" i="0">
                <a:solidFill>
                  <a:srgbClr val="0B2545"/>
                </a:solidFill>
                <a:latin typeface="Calibri"/>
              </a:rPr>
              <a:t>Gestionnaire</a:t>
            </a:r>
          </a:p>
        </p:txBody>
      </p:sp>
      <p:sp>
        <p:nvSpPr>
          <p:cNvPr id="15" name="Rounded Rectangle 14"/>
          <p:cNvSpPr/>
          <p:nvPr/>
        </p:nvSpPr>
        <p:spPr>
          <a:xfrm>
            <a:off x="822960" y="2011680"/>
            <a:ext cx="2148840" cy="310896"/>
          </a:xfrm>
          <a:prstGeom prst="roundRect">
            <a:avLst>
              <a:gd name="adj" fmla="val 50000"/>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011680"/>
            <a:ext cx="2148840" cy="310896"/>
          </a:xfrm>
          <a:prstGeom prst="rect">
            <a:avLst/>
          </a:prstGeom>
          <a:noFill/>
        </p:spPr>
        <p:txBody>
          <a:bodyPr wrap="square" anchor="ctr"/>
          <a:lstStyle/>
          <a:p>
            <a:pPr algn="ctr"/>
            <a:r>
              <a:rPr sz="1200" b="1" i="0">
                <a:solidFill>
                  <a:srgbClr val="FFFFFF"/>
                </a:solidFill>
                <a:latin typeface="Calibri"/>
              </a:rPr>
              <a:t>Acteur métier</a:t>
            </a:r>
          </a:p>
        </p:txBody>
      </p:sp>
      <p:sp>
        <p:nvSpPr>
          <p:cNvPr id="17" name="TextBox 16"/>
          <p:cNvSpPr txBox="1"/>
          <p:nvPr/>
        </p:nvSpPr>
        <p:spPr>
          <a:xfrm>
            <a:off x="822960" y="2450592"/>
            <a:ext cx="4983480" cy="1005840"/>
          </a:xfrm>
          <a:prstGeom prst="rect">
            <a:avLst/>
          </a:prstGeom>
          <a:noFill/>
        </p:spPr>
        <p:txBody>
          <a:bodyPr wrap="square" anchor="t"/>
          <a:lstStyle/>
          <a:p>
            <a:pPr algn="l"/>
            <a:r>
              <a:rPr sz="1500" b="0" i="0">
                <a:solidFill>
                  <a:srgbClr val="1F2937"/>
                </a:solidFill>
                <a:latin typeface="Calibri"/>
              </a:rPr>
              <a:t>Écriture : concours, lieux, candidats, répartition, convocations. Consulte le tableau de bord.</a:t>
            </a:r>
          </a:p>
        </p:txBody>
      </p:sp>
      <p:sp>
        <p:nvSpPr>
          <p:cNvPr id="18" name="Rounded Rectangle 17"/>
          <p:cNvSpPr/>
          <p:nvPr/>
        </p:nvSpPr>
        <p:spPr>
          <a:xfrm>
            <a:off x="6245352" y="1371600"/>
            <a:ext cx="5596128" cy="228600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1371600"/>
            <a:ext cx="146304" cy="2286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572768"/>
            <a:ext cx="4983480" cy="384048"/>
          </a:xfrm>
          <a:prstGeom prst="rect">
            <a:avLst/>
          </a:prstGeom>
          <a:noFill/>
        </p:spPr>
        <p:txBody>
          <a:bodyPr wrap="square" anchor="t"/>
          <a:lstStyle/>
          <a:p>
            <a:pPr algn="l"/>
            <a:r>
              <a:rPr sz="2000" b="1" i="0">
                <a:solidFill>
                  <a:srgbClr val="0B2545"/>
                </a:solidFill>
                <a:latin typeface="Calibri"/>
              </a:rPr>
              <a:t>Administrateur</a:t>
            </a:r>
          </a:p>
        </p:txBody>
      </p:sp>
      <p:sp>
        <p:nvSpPr>
          <p:cNvPr id="21" name="Rounded Rectangle 20"/>
          <p:cNvSpPr/>
          <p:nvPr/>
        </p:nvSpPr>
        <p:spPr>
          <a:xfrm>
            <a:off x="6629400" y="2011680"/>
            <a:ext cx="2148840" cy="310896"/>
          </a:xfrm>
          <a:prstGeom prst="roundRect">
            <a:avLst>
              <a:gd name="adj" fmla="val 5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2011680"/>
            <a:ext cx="2148840" cy="310896"/>
          </a:xfrm>
          <a:prstGeom prst="rect">
            <a:avLst/>
          </a:prstGeom>
          <a:noFill/>
        </p:spPr>
        <p:txBody>
          <a:bodyPr wrap="square" anchor="ctr"/>
          <a:lstStyle/>
          <a:p>
            <a:pPr algn="ctr"/>
            <a:r>
              <a:rPr sz="1200" b="1" i="0">
                <a:solidFill>
                  <a:srgbClr val="FFFFFF"/>
                </a:solidFill>
                <a:latin typeface="Calibri"/>
              </a:rPr>
              <a:t>Supervision</a:t>
            </a:r>
          </a:p>
        </p:txBody>
      </p:sp>
      <p:sp>
        <p:nvSpPr>
          <p:cNvPr id="23" name="TextBox 22"/>
          <p:cNvSpPr txBox="1"/>
          <p:nvPr/>
        </p:nvSpPr>
        <p:spPr>
          <a:xfrm>
            <a:off x="6629400" y="2450592"/>
            <a:ext cx="4983480" cy="1005840"/>
          </a:xfrm>
          <a:prstGeom prst="rect">
            <a:avLst/>
          </a:prstGeom>
          <a:noFill/>
        </p:spPr>
        <p:txBody>
          <a:bodyPr wrap="square" anchor="t"/>
          <a:lstStyle/>
          <a:p>
            <a:pPr algn="l"/>
            <a:r>
              <a:rPr sz="1500" b="0" i="0">
                <a:solidFill>
                  <a:srgbClr val="1F2937"/>
                </a:solidFill>
                <a:latin typeface="Calibri"/>
              </a:rPr>
              <a:t>Lecture seule sur le métier. Seul habilité à créer, modifier ou supprimer les comptes gestionnaires.</a:t>
            </a:r>
          </a:p>
        </p:txBody>
      </p:sp>
      <p:sp>
        <p:nvSpPr>
          <p:cNvPr id="24" name="Rounded Rectangle 23"/>
          <p:cNvSpPr/>
          <p:nvPr/>
        </p:nvSpPr>
        <p:spPr>
          <a:xfrm>
            <a:off x="438912" y="3840480"/>
            <a:ext cx="5596128" cy="228600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 y="3840480"/>
            <a:ext cx="146304" cy="2286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041648"/>
            <a:ext cx="4983480" cy="384048"/>
          </a:xfrm>
          <a:prstGeom prst="rect">
            <a:avLst/>
          </a:prstGeom>
          <a:noFill/>
        </p:spPr>
        <p:txBody>
          <a:bodyPr wrap="square" anchor="t"/>
          <a:lstStyle/>
          <a:p>
            <a:pPr algn="l"/>
            <a:r>
              <a:rPr sz="2000" b="1" i="0">
                <a:solidFill>
                  <a:srgbClr val="0B2545"/>
                </a:solidFill>
                <a:latin typeface="Calibri"/>
              </a:rPr>
              <a:t>Système</a:t>
            </a:r>
          </a:p>
        </p:txBody>
      </p:sp>
      <p:sp>
        <p:nvSpPr>
          <p:cNvPr id="27" name="Rounded Rectangle 26"/>
          <p:cNvSpPr/>
          <p:nvPr/>
        </p:nvSpPr>
        <p:spPr>
          <a:xfrm>
            <a:off x="822960" y="4480560"/>
            <a:ext cx="2148840" cy="310896"/>
          </a:xfrm>
          <a:prstGeom prst="roundRect">
            <a:avLst>
              <a:gd name="adj" fmla="val 50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480560"/>
            <a:ext cx="2148840" cy="310896"/>
          </a:xfrm>
          <a:prstGeom prst="rect">
            <a:avLst/>
          </a:prstGeom>
          <a:noFill/>
        </p:spPr>
        <p:txBody>
          <a:bodyPr wrap="square" anchor="ctr"/>
          <a:lstStyle/>
          <a:p>
            <a:pPr algn="ctr"/>
            <a:r>
              <a:rPr sz="1200" b="1" i="0">
                <a:solidFill>
                  <a:srgbClr val="FFFFFF"/>
                </a:solidFill>
                <a:latin typeface="Calibri"/>
              </a:rPr>
              <a:t>Traitements</a:t>
            </a:r>
          </a:p>
        </p:txBody>
      </p:sp>
      <p:sp>
        <p:nvSpPr>
          <p:cNvPr id="29" name="TextBox 28"/>
          <p:cNvSpPr txBox="1"/>
          <p:nvPr/>
        </p:nvSpPr>
        <p:spPr>
          <a:xfrm>
            <a:off x="822960" y="4919472"/>
            <a:ext cx="4983480" cy="1005840"/>
          </a:xfrm>
          <a:prstGeom prst="rect">
            <a:avLst/>
          </a:prstGeom>
          <a:noFill/>
        </p:spPr>
        <p:txBody>
          <a:bodyPr wrap="square" anchor="t"/>
          <a:lstStyle/>
          <a:p>
            <a:pPr algn="l"/>
            <a:r>
              <a:rPr sz="1500" b="0" i="0">
                <a:solidFill>
                  <a:srgbClr val="1F2937"/>
                </a:solidFill>
                <a:latin typeface="Calibri"/>
              </a:rPr>
              <a:t>Calcule la répartition, assemble les convocations PDF et envoie les e-mails.</a:t>
            </a:r>
          </a:p>
        </p:txBody>
      </p:sp>
      <p:sp>
        <p:nvSpPr>
          <p:cNvPr id="30" name="Rounded Rectangle 29"/>
          <p:cNvSpPr/>
          <p:nvPr/>
        </p:nvSpPr>
        <p:spPr>
          <a:xfrm>
            <a:off x="6245352" y="3840480"/>
            <a:ext cx="5596128" cy="228600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5352" y="3840480"/>
            <a:ext cx="146304" cy="228600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4041648"/>
            <a:ext cx="4983480" cy="384048"/>
          </a:xfrm>
          <a:prstGeom prst="rect">
            <a:avLst/>
          </a:prstGeom>
          <a:noFill/>
        </p:spPr>
        <p:txBody>
          <a:bodyPr wrap="square" anchor="t"/>
          <a:lstStyle/>
          <a:p>
            <a:pPr algn="l"/>
            <a:r>
              <a:rPr sz="2000" b="1" i="0">
                <a:solidFill>
                  <a:srgbClr val="0B2545"/>
                </a:solidFill>
                <a:latin typeface="Calibri"/>
              </a:rPr>
              <a:t>Candidat</a:t>
            </a:r>
          </a:p>
        </p:txBody>
      </p:sp>
      <p:sp>
        <p:nvSpPr>
          <p:cNvPr id="33" name="Rounded Rectangle 32"/>
          <p:cNvSpPr/>
          <p:nvPr/>
        </p:nvSpPr>
        <p:spPr>
          <a:xfrm>
            <a:off x="6629400" y="4480560"/>
            <a:ext cx="2148840" cy="310896"/>
          </a:xfrm>
          <a:prstGeom prst="roundRect">
            <a:avLst>
              <a:gd name="adj" fmla="val 50000"/>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4480560"/>
            <a:ext cx="2148840" cy="310896"/>
          </a:xfrm>
          <a:prstGeom prst="rect">
            <a:avLst/>
          </a:prstGeom>
          <a:noFill/>
        </p:spPr>
        <p:txBody>
          <a:bodyPr wrap="square" anchor="ctr"/>
          <a:lstStyle/>
          <a:p>
            <a:pPr algn="ctr"/>
            <a:r>
              <a:rPr sz="1200" b="1" i="0">
                <a:solidFill>
                  <a:srgbClr val="FFFFFF"/>
                </a:solidFill>
                <a:latin typeface="Calibri"/>
              </a:rPr>
              <a:t>Externe</a:t>
            </a:r>
          </a:p>
        </p:txBody>
      </p:sp>
      <p:sp>
        <p:nvSpPr>
          <p:cNvPr id="35" name="TextBox 34"/>
          <p:cNvSpPr txBox="1"/>
          <p:nvPr/>
        </p:nvSpPr>
        <p:spPr>
          <a:xfrm>
            <a:off x="6629400" y="4919472"/>
            <a:ext cx="4983480" cy="1005840"/>
          </a:xfrm>
          <a:prstGeom prst="rect">
            <a:avLst/>
          </a:prstGeom>
          <a:noFill/>
        </p:spPr>
        <p:txBody>
          <a:bodyPr wrap="square" anchor="t"/>
          <a:lstStyle/>
          <a:p>
            <a:pPr algn="l"/>
            <a:r>
              <a:rPr sz="1500" b="0" i="0">
                <a:solidFill>
                  <a:srgbClr val="1F2937"/>
                </a:solidFill>
                <a:latin typeface="Calibri"/>
              </a:rPr>
              <a:t>Destinataire de la convocation. Il n'a pas de compte et n'utilise pas l'application.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3  ·  Analyse et conception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Périmètre du système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11 / 29</a:t>
            </a:r>
          </a:p>
        </p:txBody>
      </p:sp>
      <p:sp>
        <p:nvSpPr>
          <p:cNvPr id="12" name="Rounded Rectangle 11"/>
          <p:cNvSpPr/>
          <p:nvPr/>
        </p:nvSpPr>
        <p:spPr>
          <a:xfrm>
            <a:off x="438912" y="1353312"/>
            <a:ext cx="5596128" cy="5029200"/>
          </a:xfrm>
          <a:prstGeom prst="roundRect">
            <a:avLst>
              <a:gd name="adj" fmla="val 5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 y="1353312"/>
            <a:ext cx="5596128" cy="475488"/>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353312"/>
            <a:ext cx="5596128" cy="475488"/>
          </a:xfrm>
          <a:prstGeom prst="rect">
            <a:avLst/>
          </a:prstGeom>
          <a:noFill/>
        </p:spPr>
        <p:txBody>
          <a:bodyPr wrap="square" anchor="ctr"/>
          <a:lstStyle/>
          <a:p>
            <a:pPr algn="ctr"/>
            <a:r>
              <a:rPr sz="1800" b="1" i="0">
                <a:solidFill>
                  <a:srgbClr val="FFFFFF"/>
                </a:solidFill>
                <a:latin typeface="Calibri"/>
              </a:rPr>
              <a:t>Inclus</a:t>
            </a:r>
          </a:p>
        </p:txBody>
      </p:sp>
      <p:sp>
        <p:nvSpPr>
          <p:cNvPr id="15" name="TextBox 14"/>
          <p:cNvSpPr txBox="1"/>
          <p:nvPr/>
        </p:nvSpPr>
        <p:spPr>
          <a:xfrm>
            <a:off x="658368" y="1938528"/>
            <a:ext cx="5166360" cy="4206240"/>
          </a:xfrm>
          <a:prstGeom prst="rect">
            <a:avLst/>
          </a:prstGeom>
          <a:noFill/>
        </p:spPr>
        <p:txBody>
          <a:bodyPr wrap="square">
            <a:spAutoFit/>
          </a:bodyPr>
          <a:lstStyle/>
          <a:p>
            <a:pPr algn="l">
              <a:spcAft>
                <a:spcPts val="800"/>
              </a:spcAft>
            </a:pPr>
            <a:r>
              <a:rPr sz="1500" b="0" i="0">
                <a:solidFill>
                  <a:srgbClr val="1F2937"/>
                </a:solidFill>
                <a:latin typeface="Calibri"/>
              </a:rPr>
              <a:t>•   Authentification et comptes gestionnaires</a:t>
            </a:r>
          </a:p>
          <a:p>
            <a:pPr algn="l">
              <a:spcAft>
                <a:spcPts val="800"/>
              </a:spcAft>
            </a:pPr>
            <a:r>
              <a:rPr sz="1500" b="0" i="0">
                <a:solidFill>
                  <a:srgbClr val="1F2937"/>
                </a:solidFill>
                <a:latin typeface="Calibri"/>
              </a:rPr>
              <a:t>•   CRUD concours, centres, établissements, salles</a:t>
            </a:r>
          </a:p>
          <a:p>
            <a:pPr algn="l">
              <a:spcAft>
                <a:spcPts val="800"/>
              </a:spcAft>
            </a:pPr>
            <a:r>
              <a:rPr sz="1500" b="0" i="0">
                <a:solidFill>
                  <a:srgbClr val="1F2937"/>
                </a:solidFill>
                <a:latin typeface="Calibri"/>
              </a:rPr>
              <a:t>•   Import Excel, modification, suppression des candidats</a:t>
            </a:r>
          </a:p>
          <a:p>
            <a:pPr algn="l">
              <a:spcAft>
                <a:spcPts val="800"/>
              </a:spcAft>
            </a:pPr>
            <a:r>
              <a:rPr sz="1500" b="0" i="0">
                <a:solidFill>
                  <a:srgbClr val="1F2937"/>
                </a:solidFill>
                <a:latin typeface="Calibri"/>
              </a:rPr>
              <a:t>•   Répartition automatique, historique, réinitialisation, export</a:t>
            </a:r>
          </a:p>
          <a:p>
            <a:pPr algn="l">
              <a:spcAft>
                <a:spcPts val="800"/>
              </a:spcAft>
            </a:pPr>
            <a:r>
              <a:rPr sz="1500" b="0" i="0">
                <a:solidFill>
                  <a:srgbClr val="1F2937"/>
                </a:solidFill>
                <a:latin typeface="Calibri"/>
              </a:rPr>
              <a:t>•   PDF de convocation, envoi groupé, historique</a:t>
            </a:r>
          </a:p>
          <a:p>
            <a:pPr algn="l">
              <a:spcAft>
                <a:spcPts val="800"/>
              </a:spcAft>
            </a:pPr>
            <a:r>
              <a:rPr sz="1500" b="0" i="0">
                <a:solidFill>
                  <a:srgbClr val="1F2937"/>
                </a:solidFill>
                <a:latin typeface="Calibri"/>
              </a:rPr>
              <a:t>•   Tableau de bord et identité visuelle MEF</a:t>
            </a:r>
          </a:p>
        </p:txBody>
      </p:sp>
      <p:sp>
        <p:nvSpPr>
          <p:cNvPr id="16" name="Rounded Rectangle 15"/>
          <p:cNvSpPr/>
          <p:nvPr/>
        </p:nvSpPr>
        <p:spPr>
          <a:xfrm>
            <a:off x="6217920" y="1353312"/>
            <a:ext cx="5532120" cy="5029200"/>
          </a:xfrm>
          <a:prstGeom prst="roundRect">
            <a:avLst>
              <a:gd name="adj" fmla="val 5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53312"/>
            <a:ext cx="5532120" cy="475488"/>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353312"/>
            <a:ext cx="5532120" cy="475488"/>
          </a:xfrm>
          <a:prstGeom prst="rect">
            <a:avLst/>
          </a:prstGeom>
          <a:noFill/>
        </p:spPr>
        <p:txBody>
          <a:bodyPr wrap="square" anchor="ctr"/>
          <a:lstStyle/>
          <a:p>
            <a:pPr algn="ctr"/>
            <a:r>
              <a:rPr sz="1800" b="1" i="0">
                <a:solidFill>
                  <a:srgbClr val="FFFFFF"/>
                </a:solidFill>
                <a:latin typeface="Calibri"/>
              </a:rPr>
              <a:t>Hors périmètre</a:t>
            </a:r>
          </a:p>
        </p:txBody>
      </p:sp>
      <p:sp>
        <p:nvSpPr>
          <p:cNvPr id="19" name="TextBox 18"/>
          <p:cNvSpPr txBox="1"/>
          <p:nvPr/>
        </p:nvSpPr>
        <p:spPr>
          <a:xfrm>
            <a:off x="6437376" y="1938528"/>
            <a:ext cx="5102352" cy="4206240"/>
          </a:xfrm>
          <a:prstGeom prst="rect">
            <a:avLst/>
          </a:prstGeom>
          <a:noFill/>
        </p:spPr>
        <p:txBody>
          <a:bodyPr wrap="square">
            <a:spAutoFit/>
          </a:bodyPr>
          <a:lstStyle/>
          <a:p>
            <a:pPr algn="l">
              <a:spcAft>
                <a:spcPts val="800"/>
              </a:spcAft>
            </a:pPr>
            <a:r>
              <a:rPr sz="1500" b="0" i="0">
                <a:solidFill>
                  <a:srgbClr val="1F2937"/>
                </a:solidFill>
                <a:latin typeface="Calibri"/>
              </a:rPr>
              <a:t>•   Inscription en ligne (les listes d'admis arrivent déjà faites)</a:t>
            </a:r>
          </a:p>
          <a:p>
            <a:pPr algn="l">
              <a:spcAft>
                <a:spcPts val="800"/>
              </a:spcAft>
            </a:pPr>
            <a:r>
              <a:rPr sz="1500" b="0" i="0">
                <a:solidFill>
                  <a:srgbClr val="1F2937"/>
                </a:solidFill>
                <a:latin typeface="Calibri"/>
              </a:rPr>
              <a:t>•   Espace candidat (pas de téléchargement autonome)</a:t>
            </a:r>
          </a:p>
          <a:p>
            <a:pPr algn="l">
              <a:spcAft>
                <a:spcPts val="800"/>
              </a:spcAft>
            </a:pPr>
            <a:r>
              <a:rPr sz="1500" b="0" i="0">
                <a:solidFill>
                  <a:srgbClr val="1F2937"/>
                </a:solidFill>
                <a:latin typeface="Calibri"/>
              </a:rPr>
              <a:t>•   Notes, jurys, correction, publication des résultats</a:t>
            </a:r>
          </a:p>
          <a:p>
            <a:pPr algn="l">
              <a:spcAft>
                <a:spcPts val="800"/>
              </a:spcAft>
            </a:pPr>
            <a:r>
              <a:rPr sz="1500" b="0" i="0">
                <a:solidFill>
                  <a:srgbClr val="1F2937"/>
                </a:solidFill>
                <a:latin typeface="Calibri"/>
              </a:rPr>
              <a:t>•   Application mobile native</a:t>
            </a:r>
          </a:p>
          <a:p>
            <a:pPr algn="l">
              <a:spcAft>
                <a:spcPts val="800"/>
              </a:spcAft>
            </a:pPr>
            <a:r>
              <a:rPr sz="1500" b="0" i="0">
                <a:solidFill>
                  <a:srgbClr val="1F2937"/>
                </a:solidFill>
                <a:latin typeface="Calibri"/>
              </a:rPr>
              <a:t>•   Paiement, pré-inscription, RH au-delà de l'organisation matérielle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3  ·  Analyse et conception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Le processus métier cible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12 / 29</a:t>
            </a:r>
          </a:p>
        </p:txBody>
      </p:sp>
      <p:sp>
        <p:nvSpPr>
          <p:cNvPr id="12" name="Rounded Rectangle 11"/>
          <p:cNvSpPr/>
          <p:nvPr/>
        </p:nvSpPr>
        <p:spPr>
          <a:xfrm>
            <a:off x="438912" y="1389888"/>
            <a:ext cx="3639312" cy="224028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080" y="159105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591056"/>
            <a:ext cx="502920" cy="502920"/>
          </a:xfrm>
          <a:prstGeom prst="rect">
            <a:avLst/>
          </a:prstGeom>
          <a:noFill/>
        </p:spPr>
        <p:txBody>
          <a:bodyPr wrap="square" anchor="ctr"/>
          <a:lstStyle/>
          <a:p>
            <a:pPr algn="ctr"/>
            <a:r>
              <a:rPr sz="1600" b="1" i="0">
                <a:solidFill>
                  <a:srgbClr val="FFFFFF"/>
                </a:solidFill>
                <a:latin typeface="Calibri"/>
              </a:rPr>
              <a:t>1</a:t>
            </a:r>
          </a:p>
        </p:txBody>
      </p:sp>
      <p:sp>
        <p:nvSpPr>
          <p:cNvPr id="15" name="TextBox 14"/>
          <p:cNvSpPr txBox="1"/>
          <p:nvPr/>
        </p:nvSpPr>
        <p:spPr>
          <a:xfrm>
            <a:off x="1261872" y="1645920"/>
            <a:ext cx="2606040" cy="438912"/>
          </a:xfrm>
          <a:prstGeom prst="rect">
            <a:avLst/>
          </a:prstGeom>
          <a:noFill/>
        </p:spPr>
        <p:txBody>
          <a:bodyPr wrap="square" anchor="t"/>
          <a:lstStyle/>
          <a:p>
            <a:pPr algn="l"/>
            <a:r>
              <a:rPr sz="1600" b="1" i="0">
                <a:solidFill>
                  <a:srgbClr val="0B2545"/>
                </a:solidFill>
                <a:latin typeface="Calibri"/>
              </a:rPr>
              <a:t>S'authentifier</a:t>
            </a:r>
          </a:p>
        </p:txBody>
      </p:sp>
      <p:sp>
        <p:nvSpPr>
          <p:cNvPr id="16" name="TextBox 15"/>
          <p:cNvSpPr txBox="1"/>
          <p:nvPr/>
        </p:nvSpPr>
        <p:spPr>
          <a:xfrm>
            <a:off x="640080" y="2304288"/>
            <a:ext cx="3218688" cy="1097280"/>
          </a:xfrm>
          <a:prstGeom prst="rect">
            <a:avLst/>
          </a:prstGeom>
          <a:noFill/>
        </p:spPr>
        <p:txBody>
          <a:bodyPr wrap="square" anchor="t"/>
          <a:lstStyle/>
          <a:p>
            <a:pPr algn="l"/>
            <a:r>
              <a:rPr sz="1400" b="0" i="0">
                <a:solidFill>
                  <a:srgbClr val="1F2937"/>
                </a:solidFill>
                <a:latin typeface="Calibri"/>
              </a:rPr>
              <a:t>Session JWT, rôle chargé.</a:t>
            </a:r>
          </a:p>
        </p:txBody>
      </p:sp>
      <p:sp>
        <p:nvSpPr>
          <p:cNvPr id="17" name="Right Arrow 16"/>
          <p:cNvSpPr/>
          <p:nvPr/>
        </p:nvSpPr>
        <p:spPr>
          <a:xfrm>
            <a:off x="3986784" y="2350008"/>
            <a:ext cx="256032" cy="182880"/>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79392" y="1389888"/>
            <a:ext cx="3639312" cy="224028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159105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591056"/>
            <a:ext cx="502920" cy="502920"/>
          </a:xfrm>
          <a:prstGeom prst="rect">
            <a:avLst/>
          </a:prstGeom>
          <a:noFill/>
        </p:spPr>
        <p:txBody>
          <a:bodyPr wrap="square" anchor="ctr"/>
          <a:lstStyle/>
          <a:p>
            <a:pPr algn="ctr"/>
            <a:r>
              <a:rPr sz="1600" b="1" i="0">
                <a:solidFill>
                  <a:srgbClr val="FFFFFF"/>
                </a:solidFill>
                <a:latin typeface="Calibri"/>
              </a:rPr>
              <a:t>2</a:t>
            </a:r>
          </a:p>
        </p:txBody>
      </p:sp>
      <p:sp>
        <p:nvSpPr>
          <p:cNvPr id="21" name="TextBox 20"/>
          <p:cNvSpPr txBox="1"/>
          <p:nvPr/>
        </p:nvSpPr>
        <p:spPr>
          <a:xfrm>
            <a:off x="5102352" y="1645920"/>
            <a:ext cx="2606040" cy="438912"/>
          </a:xfrm>
          <a:prstGeom prst="rect">
            <a:avLst/>
          </a:prstGeom>
          <a:noFill/>
        </p:spPr>
        <p:txBody>
          <a:bodyPr wrap="square" anchor="t"/>
          <a:lstStyle/>
          <a:p>
            <a:pPr algn="l"/>
            <a:r>
              <a:rPr sz="1600" b="1" i="0">
                <a:solidFill>
                  <a:srgbClr val="0B2545"/>
                </a:solidFill>
                <a:latin typeface="Calibri"/>
              </a:rPr>
              <a:t>Saisir le référentiel</a:t>
            </a:r>
          </a:p>
        </p:txBody>
      </p:sp>
      <p:sp>
        <p:nvSpPr>
          <p:cNvPr id="22" name="TextBox 21"/>
          <p:cNvSpPr txBox="1"/>
          <p:nvPr/>
        </p:nvSpPr>
        <p:spPr>
          <a:xfrm>
            <a:off x="4480560" y="2304288"/>
            <a:ext cx="3218688" cy="1097280"/>
          </a:xfrm>
          <a:prstGeom prst="rect">
            <a:avLst/>
          </a:prstGeom>
          <a:noFill/>
        </p:spPr>
        <p:txBody>
          <a:bodyPr wrap="square" anchor="t"/>
          <a:lstStyle/>
          <a:p>
            <a:pPr algn="l"/>
            <a:r>
              <a:rPr sz="1400" b="0" i="0">
                <a:solidFill>
                  <a:srgbClr val="1F2937"/>
                </a:solidFill>
                <a:latin typeface="Calibri"/>
              </a:rPr>
              <a:t>Centres, concours, établissements, salles.</a:t>
            </a:r>
          </a:p>
        </p:txBody>
      </p:sp>
      <p:sp>
        <p:nvSpPr>
          <p:cNvPr id="23" name="Right Arrow 22"/>
          <p:cNvSpPr/>
          <p:nvPr/>
        </p:nvSpPr>
        <p:spPr>
          <a:xfrm>
            <a:off x="7827264" y="2350008"/>
            <a:ext cx="256032" cy="182880"/>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9872" y="1389888"/>
            <a:ext cx="3639312" cy="224028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21040" y="159105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1591056"/>
            <a:ext cx="502920" cy="502920"/>
          </a:xfrm>
          <a:prstGeom prst="rect">
            <a:avLst/>
          </a:prstGeom>
          <a:noFill/>
        </p:spPr>
        <p:txBody>
          <a:bodyPr wrap="square" anchor="ctr"/>
          <a:lstStyle/>
          <a:p>
            <a:pPr algn="ctr"/>
            <a:r>
              <a:rPr sz="1600" b="1" i="0">
                <a:solidFill>
                  <a:srgbClr val="FFFFFF"/>
                </a:solidFill>
                <a:latin typeface="Calibri"/>
              </a:rPr>
              <a:t>3</a:t>
            </a:r>
          </a:p>
        </p:txBody>
      </p:sp>
      <p:sp>
        <p:nvSpPr>
          <p:cNvPr id="27" name="TextBox 26"/>
          <p:cNvSpPr txBox="1"/>
          <p:nvPr/>
        </p:nvSpPr>
        <p:spPr>
          <a:xfrm>
            <a:off x="8942832" y="1645920"/>
            <a:ext cx="2606040" cy="438912"/>
          </a:xfrm>
          <a:prstGeom prst="rect">
            <a:avLst/>
          </a:prstGeom>
          <a:noFill/>
        </p:spPr>
        <p:txBody>
          <a:bodyPr wrap="square" anchor="t"/>
          <a:lstStyle/>
          <a:p>
            <a:pPr algn="l"/>
            <a:r>
              <a:rPr sz="1600" b="1" i="0">
                <a:solidFill>
                  <a:srgbClr val="0B2545"/>
                </a:solidFill>
                <a:latin typeface="Calibri"/>
              </a:rPr>
              <a:t>Importer les candidats</a:t>
            </a:r>
          </a:p>
        </p:txBody>
      </p:sp>
      <p:sp>
        <p:nvSpPr>
          <p:cNvPr id="28" name="TextBox 27"/>
          <p:cNvSpPr txBox="1"/>
          <p:nvPr/>
        </p:nvSpPr>
        <p:spPr>
          <a:xfrm>
            <a:off x="8321040" y="2304288"/>
            <a:ext cx="3218688" cy="1097280"/>
          </a:xfrm>
          <a:prstGeom prst="rect">
            <a:avLst/>
          </a:prstGeom>
          <a:noFill/>
        </p:spPr>
        <p:txBody>
          <a:bodyPr wrap="square" anchor="t"/>
          <a:lstStyle/>
          <a:p>
            <a:pPr algn="l"/>
            <a:r>
              <a:rPr sz="1400" b="0" i="0">
                <a:solidFill>
                  <a:srgbClr val="1F2937"/>
                </a:solidFill>
                <a:latin typeface="Calibri"/>
              </a:rPr>
              <a:t>Fichier Excel des admis, corrections possibles.</a:t>
            </a:r>
          </a:p>
        </p:txBody>
      </p:sp>
      <p:sp>
        <p:nvSpPr>
          <p:cNvPr id="29" name="Rounded Rectangle 28"/>
          <p:cNvSpPr/>
          <p:nvPr/>
        </p:nvSpPr>
        <p:spPr>
          <a:xfrm>
            <a:off x="438912" y="3858768"/>
            <a:ext cx="3639312" cy="224028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080" y="405993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059936"/>
            <a:ext cx="502920" cy="502920"/>
          </a:xfrm>
          <a:prstGeom prst="rect">
            <a:avLst/>
          </a:prstGeom>
          <a:noFill/>
        </p:spPr>
        <p:txBody>
          <a:bodyPr wrap="square" anchor="ctr"/>
          <a:lstStyle/>
          <a:p>
            <a:pPr algn="ctr"/>
            <a:r>
              <a:rPr sz="1600" b="1" i="0">
                <a:solidFill>
                  <a:srgbClr val="FFFFFF"/>
                </a:solidFill>
                <a:latin typeface="Calibri"/>
              </a:rPr>
              <a:t>4</a:t>
            </a:r>
          </a:p>
        </p:txBody>
      </p:sp>
      <p:sp>
        <p:nvSpPr>
          <p:cNvPr id="32" name="TextBox 31"/>
          <p:cNvSpPr txBox="1"/>
          <p:nvPr/>
        </p:nvSpPr>
        <p:spPr>
          <a:xfrm>
            <a:off x="1261872" y="4114800"/>
            <a:ext cx="2606040" cy="438912"/>
          </a:xfrm>
          <a:prstGeom prst="rect">
            <a:avLst/>
          </a:prstGeom>
          <a:noFill/>
        </p:spPr>
        <p:txBody>
          <a:bodyPr wrap="square" anchor="t"/>
          <a:lstStyle/>
          <a:p>
            <a:pPr algn="l"/>
            <a:r>
              <a:rPr sz="1600" b="1" i="0">
                <a:solidFill>
                  <a:srgbClr val="0B2545"/>
                </a:solidFill>
                <a:latin typeface="Calibri"/>
              </a:rPr>
              <a:t>Répartir</a:t>
            </a:r>
          </a:p>
        </p:txBody>
      </p:sp>
      <p:sp>
        <p:nvSpPr>
          <p:cNvPr id="33" name="TextBox 32"/>
          <p:cNvSpPr txBox="1"/>
          <p:nvPr/>
        </p:nvSpPr>
        <p:spPr>
          <a:xfrm>
            <a:off x="640080" y="4773168"/>
            <a:ext cx="3218688" cy="1097280"/>
          </a:xfrm>
          <a:prstGeom prst="rect">
            <a:avLst/>
          </a:prstGeom>
          <a:noFill/>
        </p:spPr>
        <p:txBody>
          <a:bodyPr wrap="square" anchor="t"/>
          <a:lstStyle/>
          <a:p>
            <a:pPr algn="l"/>
            <a:r>
              <a:rPr sz="1400" b="0" i="0">
                <a:solidFill>
                  <a:srgbClr val="1F2937"/>
                </a:solidFill>
                <a:latin typeface="Calibri"/>
              </a:rPr>
              <a:t>Affectation auto : centre, établissement, salle, place.</a:t>
            </a:r>
          </a:p>
        </p:txBody>
      </p:sp>
      <p:sp>
        <p:nvSpPr>
          <p:cNvPr id="34" name="Right Arrow 33"/>
          <p:cNvSpPr/>
          <p:nvPr/>
        </p:nvSpPr>
        <p:spPr>
          <a:xfrm>
            <a:off x="3986784" y="4818888"/>
            <a:ext cx="256032" cy="182880"/>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279392" y="3858768"/>
            <a:ext cx="3639312" cy="224028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80560" y="405993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4059936"/>
            <a:ext cx="502920" cy="502920"/>
          </a:xfrm>
          <a:prstGeom prst="rect">
            <a:avLst/>
          </a:prstGeom>
          <a:noFill/>
        </p:spPr>
        <p:txBody>
          <a:bodyPr wrap="square" anchor="ctr"/>
          <a:lstStyle/>
          <a:p>
            <a:pPr algn="ctr"/>
            <a:r>
              <a:rPr sz="1600" b="1" i="0">
                <a:solidFill>
                  <a:srgbClr val="FFFFFF"/>
                </a:solidFill>
                <a:latin typeface="Calibri"/>
              </a:rPr>
              <a:t>5</a:t>
            </a:r>
          </a:p>
        </p:txBody>
      </p:sp>
      <p:sp>
        <p:nvSpPr>
          <p:cNvPr id="38" name="TextBox 37"/>
          <p:cNvSpPr txBox="1"/>
          <p:nvPr/>
        </p:nvSpPr>
        <p:spPr>
          <a:xfrm>
            <a:off x="5102352" y="4114800"/>
            <a:ext cx="2606040" cy="438912"/>
          </a:xfrm>
          <a:prstGeom prst="rect">
            <a:avLst/>
          </a:prstGeom>
          <a:noFill/>
        </p:spPr>
        <p:txBody>
          <a:bodyPr wrap="square" anchor="t"/>
          <a:lstStyle/>
          <a:p>
            <a:pPr algn="l"/>
            <a:r>
              <a:rPr sz="1600" b="1" i="0">
                <a:solidFill>
                  <a:srgbClr val="0B2545"/>
                </a:solidFill>
                <a:latin typeface="Calibri"/>
              </a:rPr>
              <a:t>Piloter</a:t>
            </a:r>
          </a:p>
        </p:txBody>
      </p:sp>
      <p:sp>
        <p:nvSpPr>
          <p:cNvPr id="39" name="TextBox 38"/>
          <p:cNvSpPr txBox="1"/>
          <p:nvPr/>
        </p:nvSpPr>
        <p:spPr>
          <a:xfrm>
            <a:off x="4480560" y="4773168"/>
            <a:ext cx="3218688" cy="1097280"/>
          </a:xfrm>
          <a:prstGeom prst="rect">
            <a:avLst/>
          </a:prstGeom>
          <a:noFill/>
        </p:spPr>
        <p:txBody>
          <a:bodyPr wrap="square" anchor="t"/>
          <a:lstStyle/>
          <a:p>
            <a:pPr algn="l"/>
            <a:r>
              <a:rPr sz="1400" b="0" i="0">
                <a:solidFill>
                  <a:srgbClr val="1F2937"/>
                </a:solidFill>
                <a:latin typeface="Calibri"/>
              </a:rPr>
              <a:t>Tableau de bord : effectifs, salles, alertes.</a:t>
            </a:r>
          </a:p>
        </p:txBody>
      </p:sp>
      <p:sp>
        <p:nvSpPr>
          <p:cNvPr id="40" name="Right Arrow 39"/>
          <p:cNvSpPr/>
          <p:nvPr/>
        </p:nvSpPr>
        <p:spPr>
          <a:xfrm>
            <a:off x="7827264" y="4818888"/>
            <a:ext cx="256032" cy="182880"/>
          </a:xfrm>
          <a:prstGeom prst="rightArrow">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119872" y="3858768"/>
            <a:ext cx="3639312" cy="2240280"/>
          </a:xfrm>
          <a:prstGeom prst="roundRect">
            <a:avLst>
              <a:gd name="adj" fmla="val 8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21040" y="4059936"/>
            <a:ext cx="502920" cy="502920"/>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4059936"/>
            <a:ext cx="502920" cy="502920"/>
          </a:xfrm>
          <a:prstGeom prst="rect">
            <a:avLst/>
          </a:prstGeom>
          <a:noFill/>
        </p:spPr>
        <p:txBody>
          <a:bodyPr wrap="square" anchor="ctr"/>
          <a:lstStyle/>
          <a:p>
            <a:pPr algn="ctr"/>
            <a:r>
              <a:rPr sz="1600" b="1" i="0">
                <a:solidFill>
                  <a:srgbClr val="FFFFFF"/>
                </a:solidFill>
                <a:latin typeface="Calibri"/>
              </a:rPr>
              <a:t>6</a:t>
            </a:r>
          </a:p>
        </p:txBody>
      </p:sp>
      <p:sp>
        <p:nvSpPr>
          <p:cNvPr id="44" name="TextBox 43"/>
          <p:cNvSpPr txBox="1"/>
          <p:nvPr/>
        </p:nvSpPr>
        <p:spPr>
          <a:xfrm>
            <a:off x="8942832" y="4114800"/>
            <a:ext cx="2606040" cy="438912"/>
          </a:xfrm>
          <a:prstGeom prst="rect">
            <a:avLst/>
          </a:prstGeom>
          <a:noFill/>
        </p:spPr>
        <p:txBody>
          <a:bodyPr wrap="square" anchor="t"/>
          <a:lstStyle/>
          <a:p>
            <a:pPr algn="l"/>
            <a:r>
              <a:rPr sz="1600" b="1" i="0">
                <a:solidFill>
                  <a:srgbClr val="0B2545"/>
                </a:solidFill>
                <a:latin typeface="Calibri"/>
              </a:rPr>
              <a:t>Convoquer</a:t>
            </a:r>
          </a:p>
        </p:txBody>
      </p:sp>
      <p:sp>
        <p:nvSpPr>
          <p:cNvPr id="45" name="TextBox 44"/>
          <p:cNvSpPr txBox="1"/>
          <p:nvPr/>
        </p:nvSpPr>
        <p:spPr>
          <a:xfrm>
            <a:off x="8321040" y="4773168"/>
            <a:ext cx="3218688" cy="1097280"/>
          </a:xfrm>
          <a:prstGeom prst="rect">
            <a:avLst/>
          </a:prstGeom>
          <a:noFill/>
        </p:spPr>
        <p:txBody>
          <a:bodyPr wrap="square" anchor="t"/>
          <a:lstStyle/>
          <a:p>
            <a:pPr algn="l"/>
            <a:r>
              <a:rPr sz="1400" b="0" i="0">
                <a:solidFill>
                  <a:srgbClr val="1F2937"/>
                </a:solidFill>
                <a:latin typeface="Calibri"/>
              </a:rPr>
              <a:t>Aperçu PDF, puis envoi groupé par e-mail.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3  ·  Analyse et conception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Diagramme de cas d'utilisation général</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13 / 29</a:t>
            </a:r>
          </a:p>
        </p:txBody>
      </p:sp>
      <p:sp>
        <p:nvSpPr>
          <p:cNvPr id="12" name="Rounded Rectangle 11"/>
          <p:cNvSpPr/>
          <p:nvPr/>
        </p:nvSpPr>
        <p:spPr>
          <a:xfrm>
            <a:off x="411480" y="1353312"/>
            <a:ext cx="4892040" cy="146304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17904"/>
            <a:ext cx="4526280" cy="365760"/>
          </a:xfrm>
          <a:prstGeom prst="rect">
            <a:avLst/>
          </a:prstGeom>
          <a:noFill/>
        </p:spPr>
        <p:txBody>
          <a:bodyPr wrap="square" anchor="t"/>
          <a:lstStyle/>
          <a:p>
            <a:pPr algn="l"/>
            <a:r>
              <a:rPr sz="1500" b="1" i="0">
                <a:solidFill>
                  <a:srgbClr val="0B2545"/>
                </a:solidFill>
                <a:latin typeface="Calibri"/>
              </a:rPr>
              <a:t>Deux acteurs humains</a:t>
            </a:r>
          </a:p>
        </p:txBody>
      </p:sp>
      <p:sp>
        <p:nvSpPr>
          <p:cNvPr id="14" name="TextBox 13"/>
          <p:cNvSpPr txBox="1"/>
          <p:nvPr/>
        </p:nvSpPr>
        <p:spPr>
          <a:xfrm>
            <a:off x="594360" y="1901952"/>
            <a:ext cx="4526280" cy="749808"/>
          </a:xfrm>
          <a:prstGeom prst="rect">
            <a:avLst/>
          </a:prstGeom>
          <a:noFill/>
        </p:spPr>
        <p:txBody>
          <a:bodyPr wrap="square" anchor="t"/>
          <a:lstStyle/>
          <a:p>
            <a:pPr algn="l"/>
            <a:r>
              <a:rPr sz="1300" b="0" i="0">
                <a:solidFill>
                  <a:srgbClr val="1F2937"/>
                </a:solidFill>
                <a:latin typeface="Calibri"/>
              </a:rPr>
              <a:t>Gestionnaire : écriture métier. Administrateur : lecture + comptes.</a:t>
            </a:r>
          </a:p>
        </p:txBody>
      </p:sp>
      <p:sp>
        <p:nvSpPr>
          <p:cNvPr id="15" name="Rounded Rectangle 14"/>
          <p:cNvSpPr/>
          <p:nvPr/>
        </p:nvSpPr>
        <p:spPr>
          <a:xfrm>
            <a:off x="411480" y="2953512"/>
            <a:ext cx="4892040" cy="146304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118104"/>
            <a:ext cx="4526280" cy="365760"/>
          </a:xfrm>
          <a:prstGeom prst="rect">
            <a:avLst/>
          </a:prstGeom>
          <a:noFill/>
        </p:spPr>
        <p:txBody>
          <a:bodyPr wrap="square" anchor="t"/>
          <a:lstStyle/>
          <a:p>
            <a:pPr algn="l"/>
            <a:r>
              <a:rPr sz="1500" b="1" i="0">
                <a:solidFill>
                  <a:srgbClr val="0B2545"/>
                </a:solidFill>
                <a:latin typeface="Calibri"/>
              </a:rPr>
              <a:t>« include » authentifier</a:t>
            </a:r>
          </a:p>
        </p:txBody>
      </p:sp>
      <p:sp>
        <p:nvSpPr>
          <p:cNvPr id="17" name="TextBox 16"/>
          <p:cNvSpPr txBox="1"/>
          <p:nvPr/>
        </p:nvSpPr>
        <p:spPr>
          <a:xfrm>
            <a:off x="594360" y="3502152"/>
            <a:ext cx="4526280" cy="749808"/>
          </a:xfrm>
          <a:prstGeom prst="rect">
            <a:avLst/>
          </a:prstGeom>
          <a:noFill/>
        </p:spPr>
        <p:txBody>
          <a:bodyPr wrap="square" anchor="t"/>
          <a:lstStyle/>
          <a:p>
            <a:pPr algn="l"/>
            <a:r>
              <a:rPr sz="1300" b="0" i="0">
                <a:solidFill>
                  <a:srgbClr val="1F2937"/>
                </a:solidFill>
                <a:latin typeface="Calibri"/>
              </a:rPr>
              <a:t>Aucun cas d'utilisation sans session : la sécurité est dans le modèle, pas seulement dans le code.</a:t>
            </a:r>
          </a:p>
        </p:txBody>
      </p:sp>
      <p:sp>
        <p:nvSpPr>
          <p:cNvPr id="18" name="Rounded Rectangle 17"/>
          <p:cNvSpPr/>
          <p:nvPr/>
        </p:nvSpPr>
        <p:spPr>
          <a:xfrm>
            <a:off x="411480" y="4553712"/>
            <a:ext cx="4892040" cy="146304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718304"/>
            <a:ext cx="4526280" cy="365760"/>
          </a:xfrm>
          <a:prstGeom prst="rect">
            <a:avLst/>
          </a:prstGeom>
          <a:noFill/>
        </p:spPr>
        <p:txBody>
          <a:bodyPr wrap="square" anchor="t"/>
          <a:lstStyle/>
          <a:p>
            <a:pPr algn="l"/>
            <a:r>
              <a:rPr sz="1500" b="1" i="0">
                <a:solidFill>
                  <a:srgbClr val="0B2545"/>
                </a:solidFill>
                <a:latin typeface="Calibri"/>
              </a:rPr>
              <a:t>Le candidat n'y figure pas</a:t>
            </a:r>
          </a:p>
        </p:txBody>
      </p:sp>
      <p:sp>
        <p:nvSpPr>
          <p:cNvPr id="20" name="TextBox 19"/>
          <p:cNvSpPr txBox="1"/>
          <p:nvPr/>
        </p:nvSpPr>
        <p:spPr>
          <a:xfrm>
            <a:off x="594360" y="5102352"/>
            <a:ext cx="4526280" cy="749808"/>
          </a:xfrm>
          <a:prstGeom prst="rect">
            <a:avLst/>
          </a:prstGeom>
          <a:noFill/>
        </p:spPr>
        <p:txBody>
          <a:bodyPr wrap="square" anchor="t"/>
          <a:lstStyle/>
          <a:p>
            <a:pPr algn="l"/>
            <a:r>
              <a:rPr sz="1300" b="0" i="0">
                <a:solidFill>
                  <a:srgbClr val="1F2937"/>
                </a:solidFill>
                <a:latin typeface="Calibri"/>
              </a:rPr>
              <a:t>Il ne se connecte pas. Il reçoit la convocation à l'extérieur du système.</a:t>
            </a:r>
          </a:p>
        </p:txBody>
      </p:sp>
      <p:sp>
        <p:nvSpPr>
          <p:cNvPr id="21" name="Rounded Rectangle 20"/>
          <p:cNvSpPr/>
          <p:nvPr/>
        </p:nvSpPr>
        <p:spPr>
          <a:xfrm>
            <a:off x="5440680" y="1335024"/>
            <a:ext cx="6309360" cy="5047488"/>
          </a:xfrm>
          <a:prstGeom prst="roundRect">
            <a:avLst>
              <a:gd name="adj" fmla="val 4000"/>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usecase-general.png"/>
          <p:cNvPicPr>
            <a:picLocks noChangeAspect="1"/>
          </p:cNvPicPr>
          <p:nvPr/>
        </p:nvPicPr>
        <p:blipFill>
          <a:blip r:embed="rId4"/>
          <a:stretch>
            <a:fillRect/>
          </a:stretch>
        </p:blipFill>
        <p:spPr>
          <a:xfrm>
            <a:off x="6932116" y="1408176"/>
            <a:ext cx="3326487" cy="490118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3  ·  Analyse et conception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Diagramme de classes général</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14 / 29</a:t>
            </a:r>
          </a:p>
        </p:txBody>
      </p:sp>
      <p:pic>
        <p:nvPicPr>
          <p:cNvPr id="12" name="Picture 11" descr="classe-general.png"/>
          <p:cNvPicPr>
            <a:picLocks noChangeAspect="1"/>
          </p:cNvPicPr>
          <p:nvPr/>
        </p:nvPicPr>
        <p:blipFill>
          <a:blip r:embed="rId4"/>
          <a:stretch>
            <a:fillRect/>
          </a:stretch>
        </p:blipFill>
        <p:spPr>
          <a:xfrm>
            <a:off x="2630872" y="1298448"/>
            <a:ext cx="6899774" cy="4315967"/>
          </a:xfrm>
          <a:prstGeom prst="rect">
            <a:avLst/>
          </a:prstGeom>
        </p:spPr>
      </p:pic>
      <p:sp>
        <p:nvSpPr>
          <p:cNvPr id="13" name="Rounded Rectangle 12"/>
          <p:cNvSpPr/>
          <p:nvPr/>
        </p:nvSpPr>
        <p:spPr>
          <a:xfrm>
            <a:off x="438912" y="5687568"/>
            <a:ext cx="11292840" cy="804672"/>
          </a:xfrm>
          <a:prstGeom prst="roundRect">
            <a:avLst>
              <a:gd name="adj" fmla="val 8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779008"/>
            <a:ext cx="10972800" cy="621792"/>
          </a:xfrm>
          <a:prstGeom prst="rect">
            <a:avLst/>
          </a:prstGeom>
          <a:noFill/>
        </p:spPr>
        <p:txBody>
          <a:bodyPr wrap="square" anchor="t"/>
          <a:lstStyle/>
          <a:p>
            <a:pPr algn="l"/>
            <a:r>
              <a:rPr sz="1300" b="0" i="0">
                <a:solidFill>
                  <a:srgbClr val="FFFFFF"/>
                </a:solidFill>
                <a:latin typeface="Calibri"/>
              </a:rPr>
              <a:t>Six paquets, un par microservice. Les pointillés sont des identifiants logiques (id_centre, numero_concours), pas des clés étrangères. La convocation n'est pas stockée : elle est assemblée à la lecture.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4  ·  Architecture technique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Architecture : une passerelle, six services, six bases</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15 / 29</a:t>
            </a:r>
          </a:p>
        </p:txBody>
      </p:sp>
      <p:sp>
        <p:nvSpPr>
          <p:cNvPr id="12" name="Rounded Rectangle 11"/>
          <p:cNvSpPr/>
          <p:nvPr/>
        </p:nvSpPr>
        <p:spPr>
          <a:xfrm>
            <a:off x="3063240" y="1298448"/>
            <a:ext cx="6035040" cy="530352"/>
          </a:xfrm>
          <a:prstGeom prst="roundRect">
            <a:avLst>
              <a:gd name="adj" fmla="val 15000"/>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40" y="1298448"/>
            <a:ext cx="6035040" cy="530352"/>
          </a:xfrm>
          <a:prstGeom prst="rect">
            <a:avLst/>
          </a:prstGeom>
          <a:noFill/>
        </p:spPr>
        <p:txBody>
          <a:bodyPr wrap="square" anchor="ctr"/>
          <a:lstStyle/>
          <a:p>
            <a:pPr algn="ctr"/>
            <a:r>
              <a:rPr sz="1400" b="1" i="0">
                <a:solidFill>
                  <a:srgbClr val="FFFFFF"/>
                </a:solidFill>
                <a:latin typeface="Calibri"/>
              </a:rPr>
              <a:t>Navigateur  ·  React 19 + TypeScript + Vite  ·  :5173</a:t>
            </a:r>
          </a:p>
        </p:txBody>
      </p:sp>
      <p:sp>
        <p:nvSpPr>
          <p:cNvPr id="14" name="TextBox 13"/>
          <p:cNvSpPr txBox="1"/>
          <p:nvPr/>
        </p:nvSpPr>
        <p:spPr>
          <a:xfrm>
            <a:off x="3063240" y="1810512"/>
            <a:ext cx="6035040" cy="256032"/>
          </a:xfrm>
          <a:prstGeom prst="rect">
            <a:avLst/>
          </a:prstGeom>
          <a:noFill/>
        </p:spPr>
        <p:txBody>
          <a:bodyPr wrap="square" anchor="t"/>
          <a:lstStyle/>
          <a:p>
            <a:pPr algn="ctr"/>
            <a:r>
              <a:rPr sz="1200" b="0" i="0">
                <a:solidFill>
                  <a:srgbClr val="4B5563"/>
                </a:solidFill>
                <a:latin typeface="Calibri"/>
              </a:rPr>
              <a:t>JWT dans l'en-tête Authorization  ·  proxy Vite → gateway</a:t>
            </a:r>
          </a:p>
        </p:txBody>
      </p:sp>
      <p:sp>
        <p:nvSpPr>
          <p:cNvPr id="15" name="Rounded Rectangle 14"/>
          <p:cNvSpPr/>
          <p:nvPr/>
        </p:nvSpPr>
        <p:spPr>
          <a:xfrm>
            <a:off x="1417320" y="2121408"/>
            <a:ext cx="9326880" cy="640080"/>
          </a:xfrm>
          <a:prstGeom prst="roundRect">
            <a:avLst>
              <a:gd name="adj" fmla="val 8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121408"/>
            <a:ext cx="9326880" cy="640080"/>
          </a:xfrm>
          <a:prstGeom prst="rect">
            <a:avLst/>
          </a:prstGeom>
          <a:noFill/>
        </p:spPr>
        <p:txBody>
          <a:bodyPr wrap="square" anchor="ctr"/>
          <a:lstStyle/>
          <a:p>
            <a:pPr algn="ctr"/>
            <a:r>
              <a:rPr sz="1300" b="1" i="0">
                <a:solidFill>
                  <a:srgbClr val="FFFFFF"/>
                </a:solidFill>
                <a:latin typeface="Calibri"/>
              </a:rPr>
              <a:t>API Gateway  ·  Spring Cloud Gateway  ·  :8080    —    routage par préfixe + CORS    —    pas de JWT, pas de base</a:t>
            </a:r>
          </a:p>
        </p:txBody>
      </p:sp>
      <p:sp>
        <p:nvSpPr>
          <p:cNvPr id="17" name="Rounded Rectangle 16"/>
          <p:cNvSpPr/>
          <p:nvPr/>
        </p:nvSpPr>
        <p:spPr>
          <a:xfrm>
            <a:off x="384048" y="2944368"/>
            <a:ext cx="1847088" cy="1417320"/>
          </a:xfrm>
          <a:prstGeom prst="roundRect">
            <a:avLst>
              <a:gd name="adj" fmla="val 1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2999232"/>
            <a:ext cx="1847088" cy="502920"/>
          </a:xfrm>
          <a:prstGeom prst="rect">
            <a:avLst/>
          </a:prstGeom>
          <a:noFill/>
        </p:spPr>
        <p:txBody>
          <a:bodyPr wrap="square" anchor="t"/>
          <a:lstStyle/>
          <a:p>
            <a:pPr algn="ctr"/>
            <a:r>
              <a:rPr sz="1400" b="1" i="0">
                <a:solidFill>
                  <a:srgbClr val="FFFFFF"/>
                </a:solidFill>
                <a:latin typeface="Calibri"/>
              </a:rPr>
              <a:t>auth</a:t>
            </a:r>
          </a:p>
        </p:txBody>
      </p:sp>
      <p:sp>
        <p:nvSpPr>
          <p:cNvPr id="19" name="TextBox 18"/>
          <p:cNvSpPr txBox="1"/>
          <p:nvPr/>
        </p:nvSpPr>
        <p:spPr>
          <a:xfrm>
            <a:off x="384048" y="3456432"/>
            <a:ext cx="1847088" cy="347472"/>
          </a:xfrm>
          <a:prstGeom prst="rect">
            <a:avLst/>
          </a:prstGeom>
          <a:noFill/>
        </p:spPr>
        <p:txBody>
          <a:bodyPr wrap="square" anchor="t"/>
          <a:lstStyle/>
          <a:p>
            <a:pPr algn="ctr"/>
            <a:r>
              <a:rPr sz="1200" b="0" i="0">
                <a:solidFill>
                  <a:srgbClr val="FFFFFF"/>
                </a:solidFill>
                <a:latin typeface="Calibri"/>
              </a:rPr>
              <a:t>:8081</a:t>
            </a:r>
          </a:p>
        </p:txBody>
      </p:sp>
      <p:sp>
        <p:nvSpPr>
          <p:cNvPr id="20" name="TextBox 19"/>
          <p:cNvSpPr txBox="1"/>
          <p:nvPr/>
        </p:nvSpPr>
        <p:spPr>
          <a:xfrm>
            <a:off x="384048" y="3785615"/>
            <a:ext cx="1847088" cy="457200"/>
          </a:xfrm>
          <a:prstGeom prst="rect">
            <a:avLst/>
          </a:prstGeom>
          <a:noFill/>
        </p:spPr>
        <p:txBody>
          <a:bodyPr wrap="square" anchor="t"/>
          <a:lstStyle/>
          <a:p>
            <a:pPr algn="ctr"/>
            <a:r>
              <a:rPr sz="1100" b="0" i="0">
                <a:solidFill>
                  <a:srgbClr val="FFFFFF"/>
                </a:solidFill>
                <a:latin typeface="Calibri"/>
              </a:rPr>
              <a:t>Spring Boot</a:t>
            </a:r>
          </a:p>
        </p:txBody>
      </p:sp>
      <p:sp>
        <p:nvSpPr>
          <p:cNvPr id="21" name="Rounded Rectangle 20"/>
          <p:cNvSpPr/>
          <p:nvPr/>
        </p:nvSpPr>
        <p:spPr>
          <a:xfrm>
            <a:off x="384048" y="4526280"/>
            <a:ext cx="1847088" cy="65836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4526280"/>
            <a:ext cx="1847088" cy="658368"/>
          </a:xfrm>
          <a:prstGeom prst="rect">
            <a:avLst/>
          </a:prstGeom>
          <a:noFill/>
        </p:spPr>
        <p:txBody>
          <a:bodyPr wrap="square" anchor="ctr"/>
          <a:lstStyle/>
          <a:p>
            <a:pPr algn="ctr"/>
            <a:r>
              <a:rPr sz="1100" b="1" i="0">
                <a:solidFill>
                  <a:srgbClr val="0B2545"/>
                </a:solidFill>
                <a:latin typeface="Calibri"/>
              </a:rPr>
              <a:t>PFE_Data</a:t>
            </a:r>
          </a:p>
        </p:txBody>
      </p:sp>
      <p:sp>
        <p:nvSpPr>
          <p:cNvPr id="23" name="Rounded Rectangle 22"/>
          <p:cNvSpPr/>
          <p:nvPr/>
        </p:nvSpPr>
        <p:spPr>
          <a:xfrm>
            <a:off x="2340864" y="2944368"/>
            <a:ext cx="1847088" cy="1417320"/>
          </a:xfrm>
          <a:prstGeom prst="roundRect">
            <a:avLst>
              <a:gd name="adj" fmla="val 1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40864" y="2999232"/>
            <a:ext cx="1847088" cy="502920"/>
          </a:xfrm>
          <a:prstGeom prst="rect">
            <a:avLst/>
          </a:prstGeom>
          <a:noFill/>
        </p:spPr>
        <p:txBody>
          <a:bodyPr wrap="square" anchor="t"/>
          <a:lstStyle/>
          <a:p>
            <a:pPr algn="ctr"/>
            <a:r>
              <a:rPr sz="1400" b="1" i="0">
                <a:solidFill>
                  <a:srgbClr val="FFFFFF"/>
                </a:solidFill>
                <a:latin typeface="Calibri"/>
              </a:rPr>
              <a:t>candidat</a:t>
            </a:r>
          </a:p>
        </p:txBody>
      </p:sp>
      <p:sp>
        <p:nvSpPr>
          <p:cNvPr id="25" name="TextBox 24"/>
          <p:cNvSpPr txBox="1"/>
          <p:nvPr/>
        </p:nvSpPr>
        <p:spPr>
          <a:xfrm>
            <a:off x="2340864" y="3456432"/>
            <a:ext cx="1847088" cy="347472"/>
          </a:xfrm>
          <a:prstGeom prst="rect">
            <a:avLst/>
          </a:prstGeom>
          <a:noFill/>
        </p:spPr>
        <p:txBody>
          <a:bodyPr wrap="square" anchor="t"/>
          <a:lstStyle/>
          <a:p>
            <a:pPr algn="ctr"/>
            <a:r>
              <a:rPr sz="1200" b="0" i="0">
                <a:solidFill>
                  <a:srgbClr val="FFFFFF"/>
                </a:solidFill>
                <a:latin typeface="Calibri"/>
              </a:rPr>
              <a:t>:8082</a:t>
            </a:r>
          </a:p>
        </p:txBody>
      </p:sp>
      <p:sp>
        <p:nvSpPr>
          <p:cNvPr id="26" name="TextBox 25"/>
          <p:cNvSpPr txBox="1"/>
          <p:nvPr/>
        </p:nvSpPr>
        <p:spPr>
          <a:xfrm>
            <a:off x="2340864" y="3785615"/>
            <a:ext cx="1847088" cy="457200"/>
          </a:xfrm>
          <a:prstGeom prst="rect">
            <a:avLst/>
          </a:prstGeom>
          <a:noFill/>
        </p:spPr>
        <p:txBody>
          <a:bodyPr wrap="square" anchor="t"/>
          <a:lstStyle/>
          <a:p>
            <a:pPr algn="ctr"/>
            <a:r>
              <a:rPr sz="1100" b="0" i="0">
                <a:solidFill>
                  <a:srgbClr val="FFFFFF"/>
                </a:solidFill>
                <a:latin typeface="Calibri"/>
              </a:rPr>
              <a:t>Spring Boot</a:t>
            </a:r>
          </a:p>
        </p:txBody>
      </p:sp>
      <p:sp>
        <p:nvSpPr>
          <p:cNvPr id="27" name="Rounded Rectangle 26"/>
          <p:cNvSpPr/>
          <p:nvPr/>
        </p:nvSpPr>
        <p:spPr>
          <a:xfrm>
            <a:off x="2340864" y="4526280"/>
            <a:ext cx="1847088" cy="65836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0864" y="4526280"/>
            <a:ext cx="1847088" cy="658368"/>
          </a:xfrm>
          <a:prstGeom prst="rect">
            <a:avLst/>
          </a:prstGeom>
          <a:noFill/>
        </p:spPr>
        <p:txBody>
          <a:bodyPr wrap="square" anchor="ctr"/>
          <a:lstStyle/>
          <a:p>
            <a:pPr algn="ctr"/>
            <a:r>
              <a:rPr sz="1100" b="1" i="0">
                <a:solidFill>
                  <a:srgbClr val="0B2545"/>
                </a:solidFill>
                <a:latin typeface="Calibri"/>
              </a:rPr>
              <a:t>data_candidats</a:t>
            </a:r>
          </a:p>
        </p:txBody>
      </p:sp>
      <p:sp>
        <p:nvSpPr>
          <p:cNvPr id="29" name="Rounded Rectangle 28"/>
          <p:cNvSpPr/>
          <p:nvPr/>
        </p:nvSpPr>
        <p:spPr>
          <a:xfrm>
            <a:off x="4297680" y="2944368"/>
            <a:ext cx="1847088" cy="1417320"/>
          </a:xfrm>
          <a:prstGeom prst="roundRect">
            <a:avLst>
              <a:gd name="adj" fmla="val 1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80" y="2999232"/>
            <a:ext cx="1847088" cy="502920"/>
          </a:xfrm>
          <a:prstGeom prst="rect">
            <a:avLst/>
          </a:prstGeom>
          <a:noFill/>
        </p:spPr>
        <p:txBody>
          <a:bodyPr wrap="square" anchor="t"/>
          <a:lstStyle/>
          <a:p>
            <a:pPr algn="ctr"/>
            <a:r>
              <a:rPr sz="1400" b="1" i="0">
                <a:solidFill>
                  <a:srgbClr val="FFFFFF"/>
                </a:solidFill>
                <a:latin typeface="Calibri"/>
              </a:rPr>
              <a:t>concours</a:t>
            </a:r>
          </a:p>
        </p:txBody>
      </p:sp>
      <p:sp>
        <p:nvSpPr>
          <p:cNvPr id="31" name="TextBox 30"/>
          <p:cNvSpPr txBox="1"/>
          <p:nvPr/>
        </p:nvSpPr>
        <p:spPr>
          <a:xfrm>
            <a:off x="4297680" y="3456432"/>
            <a:ext cx="1847088" cy="347472"/>
          </a:xfrm>
          <a:prstGeom prst="rect">
            <a:avLst/>
          </a:prstGeom>
          <a:noFill/>
        </p:spPr>
        <p:txBody>
          <a:bodyPr wrap="square" anchor="t"/>
          <a:lstStyle/>
          <a:p>
            <a:pPr algn="ctr"/>
            <a:r>
              <a:rPr sz="1200" b="0" i="0">
                <a:solidFill>
                  <a:srgbClr val="FFFFFF"/>
                </a:solidFill>
                <a:latin typeface="Calibri"/>
              </a:rPr>
              <a:t>:8083</a:t>
            </a:r>
          </a:p>
        </p:txBody>
      </p:sp>
      <p:sp>
        <p:nvSpPr>
          <p:cNvPr id="32" name="TextBox 31"/>
          <p:cNvSpPr txBox="1"/>
          <p:nvPr/>
        </p:nvSpPr>
        <p:spPr>
          <a:xfrm>
            <a:off x="4297680" y="3785615"/>
            <a:ext cx="1847088" cy="457200"/>
          </a:xfrm>
          <a:prstGeom prst="rect">
            <a:avLst/>
          </a:prstGeom>
          <a:noFill/>
        </p:spPr>
        <p:txBody>
          <a:bodyPr wrap="square" anchor="t"/>
          <a:lstStyle/>
          <a:p>
            <a:pPr algn="ctr"/>
            <a:r>
              <a:rPr sz="1100" b="0" i="0">
                <a:solidFill>
                  <a:srgbClr val="FFFFFF"/>
                </a:solidFill>
                <a:latin typeface="Calibri"/>
              </a:rPr>
              <a:t>Spring Boot</a:t>
            </a:r>
          </a:p>
        </p:txBody>
      </p:sp>
      <p:sp>
        <p:nvSpPr>
          <p:cNvPr id="33" name="Rounded Rectangle 32"/>
          <p:cNvSpPr/>
          <p:nvPr/>
        </p:nvSpPr>
        <p:spPr>
          <a:xfrm>
            <a:off x="4297680" y="4526280"/>
            <a:ext cx="1847088" cy="65836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80" y="4526280"/>
            <a:ext cx="1847088" cy="658368"/>
          </a:xfrm>
          <a:prstGeom prst="rect">
            <a:avLst/>
          </a:prstGeom>
          <a:noFill/>
        </p:spPr>
        <p:txBody>
          <a:bodyPr wrap="square" anchor="ctr"/>
          <a:lstStyle/>
          <a:p>
            <a:pPr algn="ctr"/>
            <a:r>
              <a:rPr sz="1100" b="1" i="0">
                <a:solidFill>
                  <a:srgbClr val="0B2545"/>
                </a:solidFill>
                <a:latin typeface="Calibri"/>
              </a:rPr>
              <a:t>data_concours</a:t>
            </a:r>
          </a:p>
        </p:txBody>
      </p:sp>
      <p:sp>
        <p:nvSpPr>
          <p:cNvPr id="35" name="Rounded Rectangle 34"/>
          <p:cNvSpPr/>
          <p:nvPr/>
        </p:nvSpPr>
        <p:spPr>
          <a:xfrm>
            <a:off x="6254496" y="2944368"/>
            <a:ext cx="1847088" cy="1417320"/>
          </a:xfrm>
          <a:prstGeom prst="roundRect">
            <a:avLst>
              <a:gd name="adj" fmla="val 1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4496" y="2999232"/>
            <a:ext cx="1847088" cy="502920"/>
          </a:xfrm>
          <a:prstGeom prst="rect">
            <a:avLst/>
          </a:prstGeom>
          <a:noFill/>
        </p:spPr>
        <p:txBody>
          <a:bodyPr wrap="square" anchor="t"/>
          <a:lstStyle/>
          <a:p>
            <a:pPr algn="ctr"/>
            <a:r>
              <a:rPr sz="1400" b="1" i="0">
                <a:solidFill>
                  <a:srgbClr val="FFFFFF"/>
                </a:solidFill>
                <a:latin typeface="Calibri"/>
              </a:rPr>
              <a:t>lieux</a:t>
            </a:r>
          </a:p>
        </p:txBody>
      </p:sp>
      <p:sp>
        <p:nvSpPr>
          <p:cNvPr id="37" name="TextBox 36"/>
          <p:cNvSpPr txBox="1"/>
          <p:nvPr/>
        </p:nvSpPr>
        <p:spPr>
          <a:xfrm>
            <a:off x="6254496" y="3456432"/>
            <a:ext cx="1847088" cy="347472"/>
          </a:xfrm>
          <a:prstGeom prst="rect">
            <a:avLst/>
          </a:prstGeom>
          <a:noFill/>
        </p:spPr>
        <p:txBody>
          <a:bodyPr wrap="square" anchor="t"/>
          <a:lstStyle/>
          <a:p>
            <a:pPr algn="ctr"/>
            <a:r>
              <a:rPr sz="1200" b="0" i="0">
                <a:solidFill>
                  <a:srgbClr val="FFFFFF"/>
                </a:solidFill>
                <a:latin typeface="Calibri"/>
              </a:rPr>
              <a:t>:8084</a:t>
            </a:r>
          </a:p>
        </p:txBody>
      </p:sp>
      <p:sp>
        <p:nvSpPr>
          <p:cNvPr id="38" name="TextBox 37"/>
          <p:cNvSpPr txBox="1"/>
          <p:nvPr/>
        </p:nvSpPr>
        <p:spPr>
          <a:xfrm>
            <a:off x="6254496" y="3785615"/>
            <a:ext cx="1847088" cy="457200"/>
          </a:xfrm>
          <a:prstGeom prst="rect">
            <a:avLst/>
          </a:prstGeom>
          <a:noFill/>
        </p:spPr>
        <p:txBody>
          <a:bodyPr wrap="square" anchor="t"/>
          <a:lstStyle/>
          <a:p>
            <a:pPr algn="ctr"/>
            <a:r>
              <a:rPr sz="1100" b="0" i="0">
                <a:solidFill>
                  <a:srgbClr val="FFFFFF"/>
                </a:solidFill>
                <a:latin typeface="Calibri"/>
              </a:rPr>
              <a:t>Spring Boot</a:t>
            </a:r>
          </a:p>
        </p:txBody>
      </p:sp>
      <p:sp>
        <p:nvSpPr>
          <p:cNvPr id="39" name="Rounded Rectangle 38"/>
          <p:cNvSpPr/>
          <p:nvPr/>
        </p:nvSpPr>
        <p:spPr>
          <a:xfrm>
            <a:off x="6254496" y="4526280"/>
            <a:ext cx="1847088" cy="65836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54496" y="4526280"/>
            <a:ext cx="1847088" cy="658368"/>
          </a:xfrm>
          <a:prstGeom prst="rect">
            <a:avLst/>
          </a:prstGeom>
          <a:noFill/>
        </p:spPr>
        <p:txBody>
          <a:bodyPr wrap="square" anchor="ctr"/>
          <a:lstStyle/>
          <a:p>
            <a:pPr algn="ctr"/>
            <a:r>
              <a:rPr sz="1100" b="1" i="0">
                <a:solidFill>
                  <a:srgbClr val="0B2545"/>
                </a:solidFill>
                <a:latin typeface="Calibri"/>
              </a:rPr>
              <a:t>data_lieux</a:t>
            </a:r>
          </a:p>
        </p:txBody>
      </p:sp>
      <p:sp>
        <p:nvSpPr>
          <p:cNvPr id="41" name="Rounded Rectangle 40"/>
          <p:cNvSpPr/>
          <p:nvPr/>
        </p:nvSpPr>
        <p:spPr>
          <a:xfrm>
            <a:off x="8211312" y="2944368"/>
            <a:ext cx="1847088" cy="1417320"/>
          </a:xfrm>
          <a:prstGeom prst="roundRect">
            <a:avLst>
              <a:gd name="adj" fmla="val 1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11312" y="2999232"/>
            <a:ext cx="1847088" cy="502920"/>
          </a:xfrm>
          <a:prstGeom prst="rect">
            <a:avLst/>
          </a:prstGeom>
          <a:noFill/>
        </p:spPr>
        <p:txBody>
          <a:bodyPr wrap="square" anchor="t"/>
          <a:lstStyle/>
          <a:p>
            <a:pPr algn="ctr"/>
            <a:r>
              <a:rPr sz="1400" b="1" i="0">
                <a:solidFill>
                  <a:srgbClr val="FFFFFF"/>
                </a:solidFill>
                <a:latin typeface="Calibri"/>
              </a:rPr>
              <a:t>répartition</a:t>
            </a:r>
          </a:p>
        </p:txBody>
      </p:sp>
      <p:sp>
        <p:nvSpPr>
          <p:cNvPr id="43" name="TextBox 42"/>
          <p:cNvSpPr txBox="1"/>
          <p:nvPr/>
        </p:nvSpPr>
        <p:spPr>
          <a:xfrm>
            <a:off x="8211312" y="3456432"/>
            <a:ext cx="1847088" cy="347472"/>
          </a:xfrm>
          <a:prstGeom prst="rect">
            <a:avLst/>
          </a:prstGeom>
          <a:noFill/>
        </p:spPr>
        <p:txBody>
          <a:bodyPr wrap="square" anchor="t"/>
          <a:lstStyle/>
          <a:p>
            <a:pPr algn="ctr"/>
            <a:r>
              <a:rPr sz="1200" b="0" i="0">
                <a:solidFill>
                  <a:srgbClr val="FFFFFF"/>
                </a:solidFill>
                <a:latin typeface="Calibri"/>
              </a:rPr>
              <a:t>:8085</a:t>
            </a:r>
          </a:p>
        </p:txBody>
      </p:sp>
      <p:sp>
        <p:nvSpPr>
          <p:cNvPr id="44" name="TextBox 43"/>
          <p:cNvSpPr txBox="1"/>
          <p:nvPr/>
        </p:nvSpPr>
        <p:spPr>
          <a:xfrm>
            <a:off x="8211312" y="3785615"/>
            <a:ext cx="1847088" cy="457200"/>
          </a:xfrm>
          <a:prstGeom prst="rect">
            <a:avLst/>
          </a:prstGeom>
          <a:noFill/>
        </p:spPr>
        <p:txBody>
          <a:bodyPr wrap="square" anchor="t"/>
          <a:lstStyle/>
          <a:p>
            <a:pPr algn="ctr"/>
            <a:r>
              <a:rPr sz="1100" b="0" i="0">
                <a:solidFill>
                  <a:srgbClr val="FFFFFF"/>
                </a:solidFill>
                <a:latin typeface="Calibri"/>
              </a:rPr>
              <a:t>Spring Boot</a:t>
            </a:r>
          </a:p>
        </p:txBody>
      </p:sp>
      <p:sp>
        <p:nvSpPr>
          <p:cNvPr id="45" name="Rounded Rectangle 44"/>
          <p:cNvSpPr/>
          <p:nvPr/>
        </p:nvSpPr>
        <p:spPr>
          <a:xfrm>
            <a:off x="8211312" y="4526280"/>
            <a:ext cx="1847088" cy="65836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4526280"/>
            <a:ext cx="1847088" cy="658368"/>
          </a:xfrm>
          <a:prstGeom prst="rect">
            <a:avLst/>
          </a:prstGeom>
          <a:noFill/>
        </p:spPr>
        <p:txBody>
          <a:bodyPr wrap="square" anchor="ctr"/>
          <a:lstStyle/>
          <a:p>
            <a:pPr algn="ctr"/>
            <a:r>
              <a:rPr sz="1100" b="1" i="0">
                <a:solidFill>
                  <a:srgbClr val="0B2545"/>
                </a:solidFill>
                <a:latin typeface="Calibri"/>
              </a:rPr>
              <a:t>data_repartition</a:t>
            </a:r>
          </a:p>
        </p:txBody>
      </p:sp>
      <p:sp>
        <p:nvSpPr>
          <p:cNvPr id="47" name="Rounded Rectangle 46"/>
          <p:cNvSpPr/>
          <p:nvPr/>
        </p:nvSpPr>
        <p:spPr>
          <a:xfrm>
            <a:off x="10168128" y="2944368"/>
            <a:ext cx="1847088" cy="1417320"/>
          </a:xfrm>
          <a:prstGeom prst="roundRect">
            <a:avLst>
              <a:gd name="adj" fmla="val 10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68128" y="2999232"/>
            <a:ext cx="1847088" cy="502920"/>
          </a:xfrm>
          <a:prstGeom prst="rect">
            <a:avLst/>
          </a:prstGeom>
          <a:noFill/>
        </p:spPr>
        <p:txBody>
          <a:bodyPr wrap="square" anchor="t"/>
          <a:lstStyle/>
          <a:p>
            <a:pPr algn="ctr"/>
            <a:r>
              <a:rPr sz="1400" b="1" i="0">
                <a:solidFill>
                  <a:srgbClr val="FFFFFF"/>
                </a:solidFill>
                <a:latin typeface="Calibri"/>
              </a:rPr>
              <a:t>convocation</a:t>
            </a:r>
          </a:p>
        </p:txBody>
      </p:sp>
      <p:sp>
        <p:nvSpPr>
          <p:cNvPr id="49" name="TextBox 48"/>
          <p:cNvSpPr txBox="1"/>
          <p:nvPr/>
        </p:nvSpPr>
        <p:spPr>
          <a:xfrm>
            <a:off x="10168128" y="3456432"/>
            <a:ext cx="1847088" cy="347472"/>
          </a:xfrm>
          <a:prstGeom prst="rect">
            <a:avLst/>
          </a:prstGeom>
          <a:noFill/>
        </p:spPr>
        <p:txBody>
          <a:bodyPr wrap="square" anchor="t"/>
          <a:lstStyle/>
          <a:p>
            <a:pPr algn="ctr"/>
            <a:r>
              <a:rPr sz="1200" b="0" i="0">
                <a:solidFill>
                  <a:srgbClr val="FFFFFF"/>
                </a:solidFill>
                <a:latin typeface="Calibri"/>
              </a:rPr>
              <a:t>:8086</a:t>
            </a:r>
          </a:p>
        </p:txBody>
      </p:sp>
      <p:sp>
        <p:nvSpPr>
          <p:cNvPr id="50" name="TextBox 49"/>
          <p:cNvSpPr txBox="1"/>
          <p:nvPr/>
        </p:nvSpPr>
        <p:spPr>
          <a:xfrm>
            <a:off x="10168128" y="3785615"/>
            <a:ext cx="1847088" cy="457200"/>
          </a:xfrm>
          <a:prstGeom prst="rect">
            <a:avLst/>
          </a:prstGeom>
          <a:noFill/>
        </p:spPr>
        <p:txBody>
          <a:bodyPr wrap="square" anchor="t"/>
          <a:lstStyle/>
          <a:p>
            <a:pPr algn="ctr"/>
            <a:r>
              <a:rPr sz="1100" b="0" i="0">
                <a:solidFill>
                  <a:srgbClr val="FFFFFF"/>
                </a:solidFill>
                <a:latin typeface="Calibri"/>
              </a:rPr>
              <a:t>Spring Boot</a:t>
            </a:r>
          </a:p>
        </p:txBody>
      </p:sp>
      <p:sp>
        <p:nvSpPr>
          <p:cNvPr id="51" name="Rounded Rectangle 50"/>
          <p:cNvSpPr/>
          <p:nvPr/>
        </p:nvSpPr>
        <p:spPr>
          <a:xfrm>
            <a:off x="10168128" y="4526280"/>
            <a:ext cx="1847088" cy="658368"/>
          </a:xfrm>
          <a:prstGeom prst="roundRect">
            <a:avLst>
              <a:gd name="adj" fmla="val 12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68128" y="4526280"/>
            <a:ext cx="1847088" cy="658368"/>
          </a:xfrm>
          <a:prstGeom prst="rect">
            <a:avLst/>
          </a:prstGeom>
          <a:noFill/>
        </p:spPr>
        <p:txBody>
          <a:bodyPr wrap="square" anchor="ctr"/>
          <a:lstStyle/>
          <a:p>
            <a:pPr algn="ctr"/>
            <a:r>
              <a:rPr sz="1100" b="1" i="0">
                <a:solidFill>
                  <a:srgbClr val="0B2545"/>
                </a:solidFill>
                <a:latin typeface="Calibri"/>
              </a:rPr>
              <a:t>data_convocations</a:t>
            </a:r>
          </a:p>
        </p:txBody>
      </p:sp>
      <p:sp>
        <p:nvSpPr>
          <p:cNvPr id="53" name="TextBox 52"/>
          <p:cNvSpPr txBox="1"/>
          <p:nvPr/>
        </p:nvSpPr>
        <p:spPr>
          <a:xfrm>
            <a:off x="411480" y="5303520"/>
            <a:ext cx="11338560" cy="1097280"/>
          </a:xfrm>
          <a:prstGeom prst="rect">
            <a:avLst/>
          </a:prstGeom>
          <a:noFill/>
        </p:spPr>
        <p:txBody>
          <a:bodyPr wrap="square" anchor="t"/>
          <a:lstStyle/>
          <a:p>
            <a:pPr algn="ctr"/>
            <a:r>
              <a:rPr sz="1400" b="0" i="0">
                <a:solidFill>
                  <a:srgbClr val="1F2937"/>
                </a:solidFill>
                <a:latin typeface="Calibri"/>
              </a:rPr>
              <a:t>PostgreSQL  ·  une base par service (database-per-service)  ·  schémas Flyway  ·  pas d'Eureka, pas de Feign
Nord–sud : le navigateur ne parle qu'à la gateway.   Est–ouest : RestClient direct entre services, jeton JWT relayé.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4  ·  Architecture technique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Responsabilités des six microservices</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16 / 29</a:t>
            </a:r>
          </a:p>
        </p:txBody>
      </p:sp>
      <p:sp>
        <p:nvSpPr>
          <p:cNvPr id="12" name="Rounded Rectangle 11"/>
          <p:cNvSpPr/>
          <p:nvPr/>
        </p:nvSpPr>
        <p:spPr>
          <a:xfrm>
            <a:off x="438912" y="1335024"/>
            <a:ext cx="3063240" cy="713232"/>
          </a:xfrm>
          <a:prstGeom prst="roundRect">
            <a:avLst>
              <a:gd name="adj" fmla="val 12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1335024"/>
            <a:ext cx="3063240" cy="713232"/>
          </a:xfrm>
          <a:prstGeom prst="rect">
            <a:avLst/>
          </a:prstGeom>
          <a:noFill/>
        </p:spPr>
        <p:txBody>
          <a:bodyPr wrap="square" anchor="ctr"/>
          <a:lstStyle/>
          <a:p>
            <a:pPr algn="ctr"/>
            <a:r>
              <a:rPr sz="1400" b="1" i="0">
                <a:solidFill>
                  <a:srgbClr val="FFFFFF"/>
                </a:solidFill>
                <a:latin typeface="Calibri"/>
              </a:rPr>
              <a:t>auth-service</a:t>
            </a:r>
          </a:p>
        </p:txBody>
      </p:sp>
      <p:sp>
        <p:nvSpPr>
          <p:cNvPr id="14" name="Rounded Rectangle 13"/>
          <p:cNvSpPr/>
          <p:nvPr/>
        </p:nvSpPr>
        <p:spPr>
          <a:xfrm>
            <a:off x="3639312" y="1335024"/>
            <a:ext cx="8092440" cy="713232"/>
          </a:xfrm>
          <a:prstGeom prst="roundRect">
            <a:avLst>
              <a:gd name="adj" fmla="val 8000"/>
            </a:avLst>
          </a:prstGeom>
          <a:solidFill>
            <a:srgbClr val="F8FAFC"/>
          </a:solidFill>
          <a:ln w="762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22191" y="1335024"/>
            <a:ext cx="7772400" cy="713232"/>
          </a:xfrm>
          <a:prstGeom prst="rect">
            <a:avLst/>
          </a:prstGeom>
          <a:noFill/>
        </p:spPr>
        <p:txBody>
          <a:bodyPr wrap="square" anchor="ctr"/>
          <a:lstStyle/>
          <a:p>
            <a:pPr algn="l"/>
            <a:r>
              <a:rPr sz="1400" b="0" i="0">
                <a:solidFill>
                  <a:srgbClr val="1F2937"/>
                </a:solidFill>
                <a:latin typeface="Calibri"/>
              </a:rPr>
              <a:t>Login, émission JWT, comptes gestionnaires (admin seulement).</a:t>
            </a:r>
          </a:p>
        </p:txBody>
      </p:sp>
      <p:sp>
        <p:nvSpPr>
          <p:cNvPr id="16" name="Rounded Rectangle 15"/>
          <p:cNvSpPr/>
          <p:nvPr/>
        </p:nvSpPr>
        <p:spPr>
          <a:xfrm>
            <a:off x="438912" y="2157984"/>
            <a:ext cx="3063240" cy="713232"/>
          </a:xfrm>
          <a:prstGeom prst="roundRect">
            <a:avLst>
              <a:gd name="adj" fmla="val 12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2157984"/>
            <a:ext cx="3063240" cy="713232"/>
          </a:xfrm>
          <a:prstGeom prst="rect">
            <a:avLst/>
          </a:prstGeom>
          <a:noFill/>
        </p:spPr>
        <p:txBody>
          <a:bodyPr wrap="square" anchor="ctr"/>
          <a:lstStyle/>
          <a:p>
            <a:pPr algn="ctr"/>
            <a:r>
              <a:rPr sz="1400" b="1" i="0">
                <a:solidFill>
                  <a:srgbClr val="FFFFFF"/>
                </a:solidFill>
                <a:latin typeface="Calibri"/>
              </a:rPr>
              <a:t>candidat-service</a:t>
            </a:r>
          </a:p>
        </p:txBody>
      </p:sp>
      <p:sp>
        <p:nvSpPr>
          <p:cNvPr id="18" name="Rounded Rectangle 17"/>
          <p:cNvSpPr/>
          <p:nvPr/>
        </p:nvSpPr>
        <p:spPr>
          <a:xfrm>
            <a:off x="3639312" y="2157984"/>
            <a:ext cx="8092440" cy="713232"/>
          </a:xfrm>
          <a:prstGeom prst="roundRect">
            <a:avLst>
              <a:gd name="adj" fmla="val 8000"/>
            </a:avLst>
          </a:prstGeom>
          <a:solidFill>
            <a:srgbClr val="F8FAFC"/>
          </a:solidFill>
          <a:ln w="762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22191" y="2157984"/>
            <a:ext cx="7772400" cy="713232"/>
          </a:xfrm>
          <a:prstGeom prst="rect">
            <a:avLst/>
          </a:prstGeom>
          <a:noFill/>
        </p:spPr>
        <p:txBody>
          <a:bodyPr wrap="square" anchor="ctr"/>
          <a:lstStyle/>
          <a:p>
            <a:pPr algn="l"/>
            <a:r>
              <a:rPr sz="1400" b="0" i="0">
                <a:solidFill>
                  <a:srgbClr val="1F2937"/>
                </a:solidFill>
                <a:latin typeface="Calibri"/>
              </a:rPr>
              <a:t>Import Excel, mise à jour, suppression, affectation par lot. Pas de POST unitaire.</a:t>
            </a:r>
          </a:p>
        </p:txBody>
      </p:sp>
      <p:sp>
        <p:nvSpPr>
          <p:cNvPr id="20" name="Rounded Rectangle 19"/>
          <p:cNvSpPr/>
          <p:nvPr/>
        </p:nvSpPr>
        <p:spPr>
          <a:xfrm>
            <a:off x="438912" y="2980944"/>
            <a:ext cx="3063240" cy="713232"/>
          </a:xfrm>
          <a:prstGeom prst="roundRect">
            <a:avLst>
              <a:gd name="adj" fmla="val 12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2980944"/>
            <a:ext cx="3063240" cy="713232"/>
          </a:xfrm>
          <a:prstGeom prst="rect">
            <a:avLst/>
          </a:prstGeom>
          <a:noFill/>
        </p:spPr>
        <p:txBody>
          <a:bodyPr wrap="square" anchor="ctr"/>
          <a:lstStyle/>
          <a:p>
            <a:pPr algn="ctr"/>
            <a:r>
              <a:rPr sz="1400" b="1" i="0">
                <a:solidFill>
                  <a:srgbClr val="FFFFFF"/>
                </a:solidFill>
                <a:latin typeface="Calibri"/>
              </a:rPr>
              <a:t>concours-service</a:t>
            </a:r>
          </a:p>
        </p:txBody>
      </p:sp>
      <p:sp>
        <p:nvSpPr>
          <p:cNvPr id="22" name="Rounded Rectangle 21"/>
          <p:cNvSpPr/>
          <p:nvPr/>
        </p:nvSpPr>
        <p:spPr>
          <a:xfrm>
            <a:off x="3639312" y="2980944"/>
            <a:ext cx="8092440" cy="713232"/>
          </a:xfrm>
          <a:prstGeom prst="roundRect">
            <a:avLst>
              <a:gd name="adj" fmla="val 8000"/>
            </a:avLst>
          </a:prstGeom>
          <a:solidFill>
            <a:srgbClr val="F8FAFC"/>
          </a:solidFill>
          <a:ln w="762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22191" y="2980944"/>
            <a:ext cx="7772400" cy="713232"/>
          </a:xfrm>
          <a:prstGeom prst="rect">
            <a:avLst/>
          </a:prstGeom>
          <a:noFill/>
        </p:spPr>
        <p:txBody>
          <a:bodyPr wrap="square" anchor="ctr"/>
          <a:lstStyle/>
          <a:p>
            <a:pPr algn="l"/>
            <a:r>
              <a:rPr sz="1400" b="0" i="0">
                <a:solidFill>
                  <a:srgbClr val="1F2937"/>
                </a:solidFill>
                <a:latin typeface="Calibri"/>
              </a:rPr>
              <a:t>CRUD concours et affectation des centres (id_centre + nom dénormalisé).</a:t>
            </a:r>
          </a:p>
        </p:txBody>
      </p:sp>
      <p:sp>
        <p:nvSpPr>
          <p:cNvPr id="24" name="Rounded Rectangle 23"/>
          <p:cNvSpPr/>
          <p:nvPr/>
        </p:nvSpPr>
        <p:spPr>
          <a:xfrm>
            <a:off x="438912" y="3803904"/>
            <a:ext cx="3063240" cy="713232"/>
          </a:xfrm>
          <a:prstGeom prst="roundRect">
            <a:avLst>
              <a:gd name="adj" fmla="val 12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803904"/>
            <a:ext cx="3063240" cy="713232"/>
          </a:xfrm>
          <a:prstGeom prst="rect">
            <a:avLst/>
          </a:prstGeom>
          <a:noFill/>
        </p:spPr>
        <p:txBody>
          <a:bodyPr wrap="square" anchor="ctr"/>
          <a:lstStyle/>
          <a:p>
            <a:pPr algn="ctr"/>
            <a:r>
              <a:rPr sz="1400" b="1" i="0">
                <a:solidFill>
                  <a:srgbClr val="FFFFFF"/>
                </a:solidFill>
                <a:latin typeface="Calibri"/>
              </a:rPr>
              <a:t>lieux-service</a:t>
            </a:r>
          </a:p>
        </p:txBody>
      </p:sp>
      <p:sp>
        <p:nvSpPr>
          <p:cNvPr id="26" name="Rounded Rectangle 25"/>
          <p:cNvSpPr/>
          <p:nvPr/>
        </p:nvSpPr>
        <p:spPr>
          <a:xfrm>
            <a:off x="3639312" y="3803904"/>
            <a:ext cx="8092440" cy="713232"/>
          </a:xfrm>
          <a:prstGeom prst="roundRect">
            <a:avLst>
              <a:gd name="adj" fmla="val 8000"/>
            </a:avLst>
          </a:prstGeom>
          <a:solidFill>
            <a:srgbClr val="F8FAFC"/>
          </a:solidFill>
          <a:ln w="762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22191" y="3803904"/>
            <a:ext cx="7772400" cy="713232"/>
          </a:xfrm>
          <a:prstGeom prst="rect">
            <a:avLst/>
          </a:prstGeom>
          <a:noFill/>
        </p:spPr>
        <p:txBody>
          <a:bodyPr wrap="square" anchor="ctr"/>
          <a:lstStyle/>
          <a:p>
            <a:pPr algn="l"/>
            <a:r>
              <a:rPr sz="1400" b="0" i="0">
                <a:solidFill>
                  <a:srgbClr val="1F2937"/>
                </a:solidFill>
                <a:latin typeface="Calibri"/>
              </a:rPr>
              <a:t>Hiérarchie centre → établissement → salle (capacité, un concours par salle).</a:t>
            </a:r>
          </a:p>
        </p:txBody>
      </p:sp>
      <p:sp>
        <p:nvSpPr>
          <p:cNvPr id="28" name="Rounded Rectangle 27"/>
          <p:cNvSpPr/>
          <p:nvPr/>
        </p:nvSpPr>
        <p:spPr>
          <a:xfrm>
            <a:off x="438912" y="4626864"/>
            <a:ext cx="3063240" cy="713232"/>
          </a:xfrm>
          <a:prstGeom prst="roundRect">
            <a:avLst>
              <a:gd name="adj" fmla="val 12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4626864"/>
            <a:ext cx="3063240" cy="713232"/>
          </a:xfrm>
          <a:prstGeom prst="rect">
            <a:avLst/>
          </a:prstGeom>
          <a:noFill/>
        </p:spPr>
        <p:txBody>
          <a:bodyPr wrap="square" anchor="ctr"/>
          <a:lstStyle/>
          <a:p>
            <a:pPr algn="ctr"/>
            <a:r>
              <a:rPr sz="1400" b="1" i="0">
                <a:solidFill>
                  <a:srgbClr val="FFFFFF"/>
                </a:solidFill>
                <a:latin typeface="Calibri"/>
              </a:rPr>
              <a:t>repartition-service</a:t>
            </a:r>
          </a:p>
        </p:txBody>
      </p:sp>
      <p:sp>
        <p:nvSpPr>
          <p:cNvPr id="30" name="Rounded Rectangle 29"/>
          <p:cNvSpPr/>
          <p:nvPr/>
        </p:nvSpPr>
        <p:spPr>
          <a:xfrm>
            <a:off x="3639312" y="4626864"/>
            <a:ext cx="8092440" cy="713232"/>
          </a:xfrm>
          <a:prstGeom prst="roundRect">
            <a:avLst>
              <a:gd name="adj" fmla="val 8000"/>
            </a:avLst>
          </a:prstGeom>
          <a:solidFill>
            <a:srgbClr val="F8FAFC"/>
          </a:solidFill>
          <a:ln w="762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22191" y="4626864"/>
            <a:ext cx="7772400" cy="713232"/>
          </a:xfrm>
          <a:prstGeom prst="rect">
            <a:avLst/>
          </a:prstGeom>
          <a:noFill/>
        </p:spPr>
        <p:txBody>
          <a:bodyPr wrap="square" anchor="ctr"/>
          <a:lstStyle/>
          <a:p>
            <a:pPr algn="l"/>
            <a:r>
              <a:rPr sz="1400" b="0" i="0">
                <a:solidFill>
                  <a:srgbClr val="1F2937"/>
                </a:solidFill>
                <a:latin typeface="Calibri"/>
              </a:rPr>
              <a:t>Orchestrateur : lit les trois référentiels, calcule, écrit les places, historise.</a:t>
            </a:r>
          </a:p>
        </p:txBody>
      </p:sp>
      <p:sp>
        <p:nvSpPr>
          <p:cNvPr id="32" name="Rounded Rectangle 31"/>
          <p:cNvSpPr/>
          <p:nvPr/>
        </p:nvSpPr>
        <p:spPr>
          <a:xfrm>
            <a:off x="438912" y="5449824"/>
            <a:ext cx="3063240" cy="713232"/>
          </a:xfrm>
          <a:prstGeom prst="roundRect">
            <a:avLst>
              <a:gd name="adj" fmla="val 12000"/>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5449824"/>
            <a:ext cx="3063240" cy="713232"/>
          </a:xfrm>
          <a:prstGeom prst="rect">
            <a:avLst/>
          </a:prstGeom>
          <a:noFill/>
        </p:spPr>
        <p:txBody>
          <a:bodyPr wrap="square" anchor="ctr"/>
          <a:lstStyle/>
          <a:p>
            <a:pPr algn="ctr"/>
            <a:r>
              <a:rPr sz="1400" b="1" i="0">
                <a:solidFill>
                  <a:srgbClr val="FFFFFF"/>
                </a:solidFill>
                <a:latin typeface="Calibri"/>
              </a:rPr>
              <a:t>convocation-service</a:t>
            </a:r>
          </a:p>
        </p:txBody>
      </p:sp>
      <p:sp>
        <p:nvSpPr>
          <p:cNvPr id="34" name="Rounded Rectangle 33"/>
          <p:cNvSpPr/>
          <p:nvPr/>
        </p:nvSpPr>
        <p:spPr>
          <a:xfrm>
            <a:off x="3639312" y="5449824"/>
            <a:ext cx="8092440" cy="713232"/>
          </a:xfrm>
          <a:prstGeom prst="roundRect">
            <a:avLst>
              <a:gd name="adj" fmla="val 8000"/>
            </a:avLst>
          </a:prstGeom>
          <a:solidFill>
            <a:srgbClr val="F8FAFC"/>
          </a:solidFill>
          <a:ln w="762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22191" y="5449824"/>
            <a:ext cx="7772400" cy="713232"/>
          </a:xfrm>
          <a:prstGeom prst="rect">
            <a:avLst/>
          </a:prstGeom>
          <a:noFill/>
        </p:spPr>
        <p:txBody>
          <a:bodyPr wrap="square" anchor="ctr"/>
          <a:lstStyle/>
          <a:p>
            <a:pPr algn="l"/>
            <a:r>
              <a:rPr sz="1400" b="0" i="0">
                <a:solidFill>
                  <a:srgbClr val="1F2937"/>
                </a:solidFill>
                <a:latin typeface="Calibri"/>
              </a:rPr>
              <a:t>Assemble le PDF à la volée, envoi Gmail, journal ENVOYE / ECHEC.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4  ·  Architecture technique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Sécurité : JWT décentralisé et rôles</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17 / 29</a:t>
            </a:r>
          </a:p>
        </p:txBody>
      </p:sp>
      <p:sp>
        <p:nvSpPr>
          <p:cNvPr id="12" name="Oval 11"/>
          <p:cNvSpPr/>
          <p:nvPr/>
        </p:nvSpPr>
        <p:spPr>
          <a:xfrm>
            <a:off x="457200" y="1444752"/>
            <a:ext cx="438912" cy="438912"/>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444752"/>
            <a:ext cx="438912" cy="438912"/>
          </a:xfrm>
          <a:prstGeom prst="rect">
            <a:avLst/>
          </a:prstGeom>
          <a:noFill/>
        </p:spPr>
        <p:txBody>
          <a:bodyPr wrap="square" anchor="ctr"/>
          <a:lstStyle/>
          <a:p>
            <a:pPr algn="ctr"/>
            <a:r>
              <a:rPr sz="1400" b="1" i="0">
                <a:solidFill>
                  <a:srgbClr val="FFFFFF"/>
                </a:solidFill>
                <a:latin typeface="Calibri"/>
              </a:rPr>
              <a:t>1</a:t>
            </a:r>
          </a:p>
        </p:txBody>
      </p:sp>
      <p:sp>
        <p:nvSpPr>
          <p:cNvPr id="14" name="TextBox 13"/>
          <p:cNvSpPr txBox="1"/>
          <p:nvPr/>
        </p:nvSpPr>
        <p:spPr>
          <a:xfrm>
            <a:off x="1051560" y="1335024"/>
            <a:ext cx="5806440" cy="347472"/>
          </a:xfrm>
          <a:prstGeom prst="rect">
            <a:avLst/>
          </a:prstGeom>
          <a:noFill/>
        </p:spPr>
        <p:txBody>
          <a:bodyPr wrap="square" anchor="t"/>
          <a:lstStyle/>
          <a:p>
            <a:pPr algn="l"/>
            <a:r>
              <a:rPr sz="1500" b="1" i="0">
                <a:solidFill>
                  <a:srgbClr val="0B2545"/>
                </a:solidFill>
                <a:latin typeface="Calibri"/>
              </a:rPr>
              <a:t>POST /auth/login</a:t>
            </a:r>
          </a:p>
        </p:txBody>
      </p:sp>
      <p:sp>
        <p:nvSpPr>
          <p:cNvPr id="15" name="TextBox 14"/>
          <p:cNvSpPr txBox="1"/>
          <p:nvPr/>
        </p:nvSpPr>
        <p:spPr>
          <a:xfrm>
            <a:off x="1051560" y="1664208"/>
            <a:ext cx="5806440" cy="420624"/>
          </a:xfrm>
          <a:prstGeom prst="rect">
            <a:avLst/>
          </a:prstGeom>
          <a:noFill/>
        </p:spPr>
        <p:txBody>
          <a:bodyPr wrap="square" anchor="t"/>
          <a:lstStyle/>
          <a:p>
            <a:pPr algn="l"/>
            <a:r>
              <a:rPr sz="1300" b="0" i="0">
                <a:solidFill>
                  <a:srgbClr val="1F2937"/>
                </a:solidFill>
                <a:latin typeface="Calibri"/>
              </a:rPr>
              <a:t>Vérification bcrypt, émission d'un JWT HS256 (sub = login, claim role).</a:t>
            </a:r>
          </a:p>
        </p:txBody>
      </p:sp>
      <p:sp>
        <p:nvSpPr>
          <p:cNvPr id="16" name="Oval 15"/>
          <p:cNvSpPr/>
          <p:nvPr/>
        </p:nvSpPr>
        <p:spPr>
          <a:xfrm>
            <a:off x="457200" y="2249424"/>
            <a:ext cx="438912" cy="438912"/>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249424"/>
            <a:ext cx="438912" cy="438912"/>
          </a:xfrm>
          <a:prstGeom prst="rect">
            <a:avLst/>
          </a:prstGeom>
          <a:noFill/>
        </p:spPr>
        <p:txBody>
          <a:bodyPr wrap="square" anchor="ctr"/>
          <a:lstStyle/>
          <a:p>
            <a:pPr algn="ctr"/>
            <a:r>
              <a:rPr sz="1400" b="1" i="0">
                <a:solidFill>
                  <a:srgbClr val="FFFFFF"/>
                </a:solidFill>
                <a:latin typeface="Calibri"/>
              </a:rPr>
              <a:t>2</a:t>
            </a:r>
          </a:p>
        </p:txBody>
      </p:sp>
      <p:sp>
        <p:nvSpPr>
          <p:cNvPr id="18" name="TextBox 17"/>
          <p:cNvSpPr txBox="1"/>
          <p:nvPr/>
        </p:nvSpPr>
        <p:spPr>
          <a:xfrm>
            <a:off x="1051560" y="2139696"/>
            <a:ext cx="5806440" cy="347472"/>
          </a:xfrm>
          <a:prstGeom prst="rect">
            <a:avLst/>
          </a:prstGeom>
          <a:noFill/>
        </p:spPr>
        <p:txBody>
          <a:bodyPr wrap="square" anchor="t"/>
          <a:lstStyle/>
          <a:p>
            <a:pPr algn="l"/>
            <a:r>
              <a:rPr sz="1500" b="1" i="0">
                <a:solidFill>
                  <a:srgbClr val="0B2545"/>
                </a:solidFill>
                <a:latin typeface="Calibri"/>
              </a:rPr>
              <a:t>sessionStorage</a:t>
            </a:r>
          </a:p>
        </p:txBody>
      </p:sp>
      <p:sp>
        <p:nvSpPr>
          <p:cNvPr id="19" name="TextBox 18"/>
          <p:cNvSpPr txBox="1"/>
          <p:nvPr/>
        </p:nvSpPr>
        <p:spPr>
          <a:xfrm>
            <a:off x="1051560" y="2468880"/>
            <a:ext cx="5806440" cy="420624"/>
          </a:xfrm>
          <a:prstGeom prst="rect">
            <a:avLst/>
          </a:prstGeom>
          <a:noFill/>
        </p:spPr>
        <p:txBody>
          <a:bodyPr wrap="square" anchor="t"/>
          <a:lstStyle/>
          <a:p>
            <a:pPr algn="l"/>
            <a:r>
              <a:rPr sz="1300" b="0" i="0">
                <a:solidFill>
                  <a:srgbClr val="1F2937"/>
                </a:solidFill>
                <a:latin typeface="Calibri"/>
              </a:rPr>
              <a:t>Clé pfe_access_token. La session meurt à la fermeture de l'onglet. Durée 24 h.</a:t>
            </a:r>
          </a:p>
        </p:txBody>
      </p:sp>
      <p:sp>
        <p:nvSpPr>
          <p:cNvPr id="20" name="Oval 19"/>
          <p:cNvSpPr/>
          <p:nvPr/>
        </p:nvSpPr>
        <p:spPr>
          <a:xfrm>
            <a:off x="457200" y="3054096"/>
            <a:ext cx="438912" cy="438912"/>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054096"/>
            <a:ext cx="438912" cy="438912"/>
          </a:xfrm>
          <a:prstGeom prst="rect">
            <a:avLst/>
          </a:prstGeom>
          <a:noFill/>
        </p:spPr>
        <p:txBody>
          <a:bodyPr wrap="square" anchor="ctr"/>
          <a:lstStyle/>
          <a:p>
            <a:pPr algn="ctr"/>
            <a:r>
              <a:rPr sz="1400" b="1" i="0">
                <a:solidFill>
                  <a:srgbClr val="FFFFFF"/>
                </a:solidFill>
                <a:latin typeface="Calibri"/>
              </a:rPr>
              <a:t>3</a:t>
            </a:r>
          </a:p>
        </p:txBody>
      </p:sp>
      <p:sp>
        <p:nvSpPr>
          <p:cNvPr id="22" name="TextBox 21"/>
          <p:cNvSpPr txBox="1"/>
          <p:nvPr/>
        </p:nvSpPr>
        <p:spPr>
          <a:xfrm>
            <a:off x="1051560" y="2944368"/>
            <a:ext cx="5806440" cy="347472"/>
          </a:xfrm>
          <a:prstGeom prst="rect">
            <a:avLst/>
          </a:prstGeom>
          <a:noFill/>
        </p:spPr>
        <p:txBody>
          <a:bodyPr wrap="square" anchor="t"/>
          <a:lstStyle/>
          <a:p>
            <a:pPr algn="l"/>
            <a:r>
              <a:rPr sz="1500" b="1" i="0">
                <a:solidFill>
                  <a:srgbClr val="0B2545"/>
                </a:solidFill>
                <a:latin typeface="Calibri"/>
              </a:rPr>
              <a:t>Chaque service valide</a:t>
            </a:r>
          </a:p>
        </p:txBody>
      </p:sp>
      <p:sp>
        <p:nvSpPr>
          <p:cNvPr id="23" name="TextBox 22"/>
          <p:cNvSpPr txBox="1"/>
          <p:nvPr/>
        </p:nvSpPr>
        <p:spPr>
          <a:xfrm>
            <a:off x="1051560" y="3273552"/>
            <a:ext cx="5806440" cy="420624"/>
          </a:xfrm>
          <a:prstGeom prst="rect">
            <a:avLst/>
          </a:prstGeom>
          <a:noFill/>
        </p:spPr>
        <p:txBody>
          <a:bodyPr wrap="square" anchor="t"/>
          <a:lstStyle/>
          <a:p>
            <a:pPr algn="l"/>
            <a:r>
              <a:rPr sz="1300" b="0" i="0">
                <a:solidFill>
                  <a:srgbClr val="1F2937"/>
                </a:solidFill>
                <a:latin typeface="Calibri"/>
              </a:rPr>
              <a:t>Même secret JWT_SECRET. Pas d'appel à auth-service pour vérifier le jeton.</a:t>
            </a:r>
          </a:p>
        </p:txBody>
      </p:sp>
      <p:sp>
        <p:nvSpPr>
          <p:cNvPr id="24" name="Oval 23"/>
          <p:cNvSpPr/>
          <p:nvPr/>
        </p:nvSpPr>
        <p:spPr>
          <a:xfrm>
            <a:off x="457200" y="3858767"/>
            <a:ext cx="438912" cy="438912"/>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858767"/>
            <a:ext cx="438912" cy="438912"/>
          </a:xfrm>
          <a:prstGeom prst="rect">
            <a:avLst/>
          </a:prstGeom>
          <a:noFill/>
        </p:spPr>
        <p:txBody>
          <a:bodyPr wrap="square" anchor="ctr"/>
          <a:lstStyle/>
          <a:p>
            <a:pPr algn="ctr"/>
            <a:r>
              <a:rPr sz="1400" b="1" i="0">
                <a:solidFill>
                  <a:srgbClr val="FFFFFF"/>
                </a:solidFill>
                <a:latin typeface="Calibri"/>
              </a:rPr>
              <a:t>4</a:t>
            </a:r>
          </a:p>
        </p:txBody>
      </p:sp>
      <p:sp>
        <p:nvSpPr>
          <p:cNvPr id="26" name="TextBox 25"/>
          <p:cNvSpPr txBox="1"/>
          <p:nvPr/>
        </p:nvSpPr>
        <p:spPr>
          <a:xfrm>
            <a:off x="1051560" y="3749039"/>
            <a:ext cx="5806440" cy="347472"/>
          </a:xfrm>
          <a:prstGeom prst="rect">
            <a:avLst/>
          </a:prstGeom>
          <a:noFill/>
        </p:spPr>
        <p:txBody>
          <a:bodyPr wrap="square" anchor="t"/>
          <a:lstStyle/>
          <a:p>
            <a:pPr algn="l"/>
            <a:r>
              <a:rPr sz="1500" b="1" i="0">
                <a:solidFill>
                  <a:srgbClr val="0B2545"/>
                </a:solidFill>
                <a:latin typeface="Calibri"/>
              </a:rPr>
              <a:t>Gateway transparente</a:t>
            </a:r>
          </a:p>
        </p:txBody>
      </p:sp>
      <p:sp>
        <p:nvSpPr>
          <p:cNvPr id="27" name="TextBox 26"/>
          <p:cNvSpPr txBox="1"/>
          <p:nvPr/>
        </p:nvSpPr>
        <p:spPr>
          <a:xfrm>
            <a:off x="1051560" y="4078223"/>
            <a:ext cx="5806440" cy="420624"/>
          </a:xfrm>
          <a:prstGeom prst="rect">
            <a:avLst/>
          </a:prstGeom>
          <a:noFill/>
        </p:spPr>
        <p:txBody>
          <a:bodyPr wrap="square" anchor="t"/>
          <a:lstStyle/>
          <a:p>
            <a:pPr algn="l"/>
            <a:r>
              <a:rPr sz="1300" b="0" i="0">
                <a:solidFill>
                  <a:srgbClr val="1F2937"/>
                </a:solidFill>
                <a:latin typeface="Calibri"/>
              </a:rPr>
              <a:t>Elle transmet Authorization tel quel. Elle n'authentifie pas, elle n'autorise pas.</a:t>
            </a:r>
          </a:p>
        </p:txBody>
      </p:sp>
      <p:sp>
        <p:nvSpPr>
          <p:cNvPr id="28" name="Rounded Rectangle 27"/>
          <p:cNvSpPr/>
          <p:nvPr/>
        </p:nvSpPr>
        <p:spPr>
          <a:xfrm>
            <a:off x="7040880" y="1335024"/>
            <a:ext cx="4709160" cy="3154680"/>
          </a:xfrm>
          <a:prstGeom prst="roundRect">
            <a:avLst>
              <a:gd name="adj" fmla="val 6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0" y="1444752"/>
            <a:ext cx="4343400" cy="347472"/>
          </a:xfrm>
          <a:prstGeom prst="rect">
            <a:avLst/>
          </a:prstGeom>
          <a:noFill/>
        </p:spPr>
        <p:txBody>
          <a:bodyPr wrap="square" anchor="t"/>
          <a:lstStyle/>
          <a:p>
            <a:pPr algn="l"/>
            <a:r>
              <a:rPr sz="1600" b="1" i="0">
                <a:solidFill>
                  <a:srgbClr val="0B2545"/>
                </a:solidFill>
                <a:latin typeface="Calibri"/>
              </a:rPr>
              <a:t>Rôles</a:t>
            </a:r>
          </a:p>
        </p:txBody>
      </p:sp>
      <p:sp>
        <p:nvSpPr>
          <p:cNvPr id="30" name="TextBox 29"/>
          <p:cNvSpPr txBox="1"/>
          <p:nvPr/>
        </p:nvSpPr>
        <p:spPr>
          <a:xfrm>
            <a:off x="7223760" y="1874519"/>
            <a:ext cx="4343400" cy="2468880"/>
          </a:xfrm>
          <a:prstGeom prst="rect">
            <a:avLst/>
          </a:prstGeom>
          <a:noFill/>
        </p:spPr>
        <p:txBody>
          <a:bodyPr wrap="square" anchor="t"/>
          <a:lstStyle/>
          <a:p>
            <a:pPr algn="l"/>
            <a:r>
              <a:rPr sz="1400" b="0" i="0">
                <a:solidFill>
                  <a:srgbClr val="1F2937"/>
                </a:solidFill>
                <a:latin typeface="Calibri"/>
              </a:rPr>
              <a:t>GESTIONNAIRE
Lecture et écriture métier, répartition, envoi.
ADMINISTRATEUR
Lecture métier. Seul à gérer les comptes.
Pas de jeton de rafraîchissement : un choix simple, une limite assumée.</a:t>
            </a:r>
          </a:p>
        </p:txBody>
      </p:sp>
      <p:sp>
        <p:nvSpPr>
          <p:cNvPr id="31" name="Rounded Rectangle 30"/>
          <p:cNvSpPr/>
          <p:nvPr/>
        </p:nvSpPr>
        <p:spPr>
          <a:xfrm>
            <a:off x="438912" y="4663440"/>
            <a:ext cx="11292840" cy="1691640"/>
          </a:xfrm>
          <a:prstGeom prst="roundRect">
            <a:avLst>
              <a:gd name="adj" fmla="val 6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800600"/>
            <a:ext cx="10881360" cy="1417320"/>
          </a:xfrm>
          <a:prstGeom prst="rect">
            <a:avLst/>
          </a:prstGeom>
          <a:noFill/>
        </p:spPr>
        <p:txBody>
          <a:bodyPr wrap="square" anchor="t"/>
          <a:lstStyle/>
          <a:p>
            <a:pPr algn="l"/>
            <a:r>
              <a:rPr sz="1400" b="0" i="0">
                <a:solidFill>
                  <a:srgbClr val="FFFFFF"/>
                </a:solidFill>
                <a:latin typeface="Calibri"/>
              </a:rPr>
              <a:t>Appels internes : le JWT de l'utilisateur est relayé. Un 404 aval devient 400 (référence invalide). Un 401/403 ou une 5xx aval devient 502. Un service injoignable : 503.
Pas de révocation centrale : changer le secret impose de redéployer les six services ressource.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4  ·  Architecture technique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Scénario clé : la répartition orchestre trois services</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18 / 29</a:t>
            </a:r>
          </a:p>
        </p:txBody>
      </p:sp>
      <p:sp>
        <p:nvSpPr>
          <p:cNvPr id="12" name="Rounded Rectangle 11"/>
          <p:cNvSpPr/>
          <p:nvPr/>
        </p:nvSpPr>
        <p:spPr>
          <a:xfrm>
            <a:off x="384048" y="1335024"/>
            <a:ext cx="4434840" cy="1078992"/>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444752"/>
            <a:ext cx="4160520" cy="347472"/>
          </a:xfrm>
          <a:prstGeom prst="rect">
            <a:avLst/>
          </a:prstGeom>
          <a:noFill/>
        </p:spPr>
        <p:txBody>
          <a:bodyPr wrap="square" anchor="t"/>
          <a:lstStyle/>
          <a:p>
            <a:pPr algn="l"/>
            <a:r>
              <a:rPr sz="1400" b="1" i="0">
                <a:solidFill>
                  <a:srgbClr val="0B2545"/>
                </a:solidFill>
                <a:latin typeface="Calibri"/>
              </a:rPr>
              <a:t>1. Déclenchement</a:t>
            </a:r>
          </a:p>
        </p:txBody>
      </p:sp>
      <p:sp>
        <p:nvSpPr>
          <p:cNvPr id="14" name="TextBox 13"/>
          <p:cNvSpPr txBox="1"/>
          <p:nvPr/>
        </p:nvSpPr>
        <p:spPr>
          <a:xfrm>
            <a:off x="530352" y="1792224"/>
            <a:ext cx="4160520" cy="502920"/>
          </a:xfrm>
          <a:prstGeom prst="rect">
            <a:avLst/>
          </a:prstGeom>
          <a:noFill/>
        </p:spPr>
        <p:txBody>
          <a:bodyPr wrap="square" anchor="t"/>
          <a:lstStyle/>
          <a:p>
            <a:pPr algn="l"/>
            <a:r>
              <a:rPr sz="1200" b="0" i="0">
                <a:solidFill>
                  <a:srgbClr val="1F2937"/>
                </a:solidFill>
                <a:latin typeface="Calibri"/>
              </a:rPr>
              <a:t>POST /api/repartition/run — gestionnaire uniquement.</a:t>
            </a:r>
          </a:p>
        </p:txBody>
      </p:sp>
      <p:sp>
        <p:nvSpPr>
          <p:cNvPr id="15" name="Rounded Rectangle 14"/>
          <p:cNvSpPr/>
          <p:nvPr/>
        </p:nvSpPr>
        <p:spPr>
          <a:xfrm>
            <a:off x="384048" y="2542032"/>
            <a:ext cx="4434840" cy="1078992"/>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651760"/>
            <a:ext cx="4160520" cy="347472"/>
          </a:xfrm>
          <a:prstGeom prst="rect">
            <a:avLst/>
          </a:prstGeom>
          <a:noFill/>
        </p:spPr>
        <p:txBody>
          <a:bodyPr wrap="square" anchor="t"/>
          <a:lstStyle/>
          <a:p>
            <a:pPr algn="l"/>
            <a:r>
              <a:rPr sz="1400" b="1" i="0">
                <a:solidFill>
                  <a:srgbClr val="0B2545"/>
                </a:solidFill>
                <a:latin typeface="Calibri"/>
              </a:rPr>
              <a:t>2. Lectures</a:t>
            </a:r>
          </a:p>
        </p:txBody>
      </p:sp>
      <p:sp>
        <p:nvSpPr>
          <p:cNvPr id="17" name="TextBox 16"/>
          <p:cNvSpPr txBox="1"/>
          <p:nvPr/>
        </p:nvSpPr>
        <p:spPr>
          <a:xfrm>
            <a:off x="530352" y="2999232"/>
            <a:ext cx="4160520" cy="502920"/>
          </a:xfrm>
          <a:prstGeom prst="rect">
            <a:avLst/>
          </a:prstGeom>
          <a:noFill/>
        </p:spPr>
        <p:txBody>
          <a:bodyPr wrap="square" anchor="t"/>
          <a:lstStyle/>
          <a:p>
            <a:pPr algn="l"/>
            <a:r>
              <a:rPr sz="1200" b="0" i="0">
                <a:solidFill>
                  <a:srgbClr val="1F2937"/>
                </a:solidFill>
                <a:latin typeface="Calibri"/>
              </a:rPr>
              <a:t>GET concours, GET salles par concours, GET candidats.</a:t>
            </a:r>
          </a:p>
        </p:txBody>
      </p:sp>
      <p:sp>
        <p:nvSpPr>
          <p:cNvPr id="18" name="Rounded Rectangle 17"/>
          <p:cNvSpPr/>
          <p:nvPr/>
        </p:nvSpPr>
        <p:spPr>
          <a:xfrm>
            <a:off x="384048" y="3749039"/>
            <a:ext cx="4434840" cy="1078992"/>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858767"/>
            <a:ext cx="4160520" cy="347472"/>
          </a:xfrm>
          <a:prstGeom prst="rect">
            <a:avLst/>
          </a:prstGeom>
          <a:noFill/>
        </p:spPr>
        <p:txBody>
          <a:bodyPr wrap="square" anchor="t"/>
          <a:lstStyle/>
          <a:p>
            <a:pPr algn="l"/>
            <a:r>
              <a:rPr sz="1400" b="1" i="0">
                <a:solidFill>
                  <a:srgbClr val="0B2545"/>
                </a:solidFill>
                <a:latin typeface="Calibri"/>
              </a:rPr>
              <a:t>3. Calcul</a:t>
            </a:r>
          </a:p>
        </p:txBody>
      </p:sp>
      <p:sp>
        <p:nvSpPr>
          <p:cNvPr id="20" name="TextBox 19"/>
          <p:cNvSpPr txBox="1"/>
          <p:nvPr/>
        </p:nvSpPr>
        <p:spPr>
          <a:xfrm>
            <a:off x="530352" y="4206239"/>
            <a:ext cx="4160520" cy="502920"/>
          </a:xfrm>
          <a:prstGeom prst="rect">
            <a:avLst/>
          </a:prstGeom>
          <a:noFill/>
        </p:spPr>
        <p:txBody>
          <a:bodyPr wrap="square" anchor="t"/>
          <a:lstStyle/>
          <a:p>
            <a:pPr algn="l"/>
            <a:r>
              <a:rPr sz="1200" b="0" i="0">
                <a:solidFill>
                  <a:srgbClr val="1F2937"/>
                </a:solidFill>
                <a:latin typeface="Calibri"/>
              </a:rPr>
              <a:t>Plan en mémoire : proximité régionale + capacité. Alertes si impossible.</a:t>
            </a:r>
          </a:p>
        </p:txBody>
      </p:sp>
      <p:sp>
        <p:nvSpPr>
          <p:cNvPr id="21" name="Rounded Rectangle 20"/>
          <p:cNvSpPr/>
          <p:nvPr/>
        </p:nvSpPr>
        <p:spPr>
          <a:xfrm>
            <a:off x="384048" y="4956048"/>
            <a:ext cx="4434840" cy="1078992"/>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5065776"/>
            <a:ext cx="4160520" cy="347472"/>
          </a:xfrm>
          <a:prstGeom prst="rect">
            <a:avLst/>
          </a:prstGeom>
          <a:noFill/>
        </p:spPr>
        <p:txBody>
          <a:bodyPr wrap="square" anchor="t"/>
          <a:lstStyle/>
          <a:p>
            <a:pPr algn="l"/>
            <a:r>
              <a:rPr sz="1400" b="1" i="0">
                <a:solidFill>
                  <a:srgbClr val="0B2545"/>
                </a:solidFill>
                <a:latin typeface="Calibri"/>
              </a:rPr>
              <a:t>4. Écriture</a:t>
            </a:r>
          </a:p>
        </p:txBody>
      </p:sp>
      <p:sp>
        <p:nvSpPr>
          <p:cNvPr id="23" name="TextBox 22"/>
          <p:cNvSpPr txBox="1"/>
          <p:nvPr/>
        </p:nvSpPr>
        <p:spPr>
          <a:xfrm>
            <a:off x="530352" y="5413248"/>
            <a:ext cx="4160520" cy="502920"/>
          </a:xfrm>
          <a:prstGeom prst="rect">
            <a:avLst/>
          </a:prstGeom>
          <a:noFill/>
        </p:spPr>
        <p:txBody>
          <a:bodyPr wrap="square" anchor="t"/>
          <a:lstStyle/>
          <a:p>
            <a:pPr algn="l"/>
            <a:r>
              <a:rPr sz="1200" b="0" i="0">
                <a:solidFill>
                  <a:srgbClr val="1F2937"/>
                </a:solidFill>
                <a:latin typeface="Calibri"/>
              </a:rPr>
              <a:t>PATCH affectations, puis INSERT run / alertes. Non atomique.</a:t>
            </a:r>
          </a:p>
        </p:txBody>
      </p:sp>
      <p:sp>
        <p:nvSpPr>
          <p:cNvPr id="24" name="Rounded Rectangle 23"/>
          <p:cNvSpPr/>
          <p:nvPr/>
        </p:nvSpPr>
        <p:spPr>
          <a:xfrm>
            <a:off x="4937760" y="1298448"/>
            <a:ext cx="6812280" cy="5074920"/>
          </a:xfrm>
          <a:prstGeom prst="roundRect">
            <a:avLst>
              <a:gd name="adj" fmla="val 4000"/>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eq-repartition.png"/>
          <p:cNvPicPr>
            <a:picLocks noChangeAspect="1"/>
          </p:cNvPicPr>
          <p:nvPr/>
        </p:nvPicPr>
        <p:blipFill>
          <a:blip r:embed="rId4"/>
          <a:stretch>
            <a:fillRect/>
          </a:stretch>
        </p:blipFill>
        <p:spPr>
          <a:xfrm>
            <a:off x="5384874" y="1371600"/>
            <a:ext cx="5918051" cy="491947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4  ·  Architecture technique</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Pile technique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19 / 29</a:t>
            </a:r>
          </a:p>
        </p:txBody>
      </p:sp>
      <p:sp>
        <p:nvSpPr>
          <p:cNvPr id="12" name="TextBox 11"/>
          <p:cNvSpPr txBox="1"/>
          <p:nvPr/>
        </p:nvSpPr>
        <p:spPr>
          <a:xfrm>
            <a:off x="438912" y="1353312"/>
            <a:ext cx="10972800" cy="292608"/>
          </a:xfrm>
          <a:prstGeom prst="rect">
            <a:avLst/>
          </a:prstGeom>
          <a:noFill/>
        </p:spPr>
        <p:txBody>
          <a:bodyPr wrap="square" anchor="t"/>
          <a:lstStyle/>
          <a:p>
            <a:pPr algn="l"/>
            <a:r>
              <a:rPr sz="1500" b="1" i="0">
                <a:solidFill>
                  <a:srgbClr val="008591"/>
                </a:solidFill>
                <a:latin typeface="Calibri"/>
              </a:rPr>
              <a:t>Backend</a:t>
            </a:r>
          </a:p>
        </p:txBody>
      </p:sp>
      <p:sp>
        <p:nvSpPr>
          <p:cNvPr id="13" name="Rounded Rectangle 12"/>
          <p:cNvSpPr/>
          <p:nvPr/>
        </p:nvSpPr>
        <p:spPr>
          <a:xfrm>
            <a:off x="438912" y="170078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java-logo.png"/>
          <p:cNvPicPr>
            <a:picLocks noChangeAspect="1"/>
          </p:cNvPicPr>
          <p:nvPr/>
        </p:nvPicPr>
        <p:blipFill>
          <a:blip r:embed="rId4"/>
          <a:stretch>
            <a:fillRect/>
          </a:stretch>
        </p:blipFill>
        <p:spPr>
          <a:xfrm>
            <a:off x="694944" y="1962391"/>
            <a:ext cx="1316736" cy="738657"/>
          </a:xfrm>
          <a:prstGeom prst="rect">
            <a:avLst/>
          </a:prstGeom>
        </p:spPr>
      </p:pic>
      <p:sp>
        <p:nvSpPr>
          <p:cNvPr id="15" name="TextBox 14"/>
          <p:cNvSpPr txBox="1"/>
          <p:nvPr/>
        </p:nvSpPr>
        <p:spPr>
          <a:xfrm>
            <a:off x="512064" y="2907792"/>
            <a:ext cx="1682496" cy="621792"/>
          </a:xfrm>
          <a:prstGeom prst="rect">
            <a:avLst/>
          </a:prstGeom>
          <a:noFill/>
        </p:spPr>
        <p:txBody>
          <a:bodyPr wrap="square" anchor="ctr"/>
          <a:lstStyle/>
          <a:p>
            <a:pPr algn="ctr"/>
            <a:r>
              <a:rPr sz="1100" b="1" i="0">
                <a:solidFill>
                  <a:srgbClr val="0B2545"/>
                </a:solidFill>
                <a:latin typeface="Calibri"/>
              </a:rPr>
              <a:t>Java 17</a:t>
            </a:r>
          </a:p>
        </p:txBody>
      </p:sp>
      <p:sp>
        <p:nvSpPr>
          <p:cNvPr id="16" name="Rounded Rectangle 15"/>
          <p:cNvSpPr/>
          <p:nvPr/>
        </p:nvSpPr>
        <p:spPr>
          <a:xfrm>
            <a:off x="2377440" y="170078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ring-boot-logo.png"/>
          <p:cNvPicPr>
            <a:picLocks noChangeAspect="1"/>
          </p:cNvPicPr>
          <p:nvPr/>
        </p:nvPicPr>
        <p:blipFill>
          <a:blip r:embed="rId5"/>
          <a:stretch>
            <a:fillRect/>
          </a:stretch>
        </p:blipFill>
        <p:spPr>
          <a:xfrm>
            <a:off x="2752344" y="1792224"/>
            <a:ext cx="1078992" cy="1078992"/>
          </a:xfrm>
          <a:prstGeom prst="rect">
            <a:avLst/>
          </a:prstGeom>
        </p:spPr>
      </p:pic>
      <p:sp>
        <p:nvSpPr>
          <p:cNvPr id="18" name="TextBox 17"/>
          <p:cNvSpPr txBox="1"/>
          <p:nvPr/>
        </p:nvSpPr>
        <p:spPr>
          <a:xfrm>
            <a:off x="2450592" y="2907792"/>
            <a:ext cx="1682496" cy="621792"/>
          </a:xfrm>
          <a:prstGeom prst="rect">
            <a:avLst/>
          </a:prstGeom>
          <a:noFill/>
        </p:spPr>
        <p:txBody>
          <a:bodyPr wrap="square" anchor="ctr"/>
          <a:lstStyle/>
          <a:p>
            <a:pPr algn="ctr"/>
            <a:r>
              <a:rPr sz="1100" b="1" i="0">
                <a:solidFill>
                  <a:srgbClr val="0B2545"/>
                </a:solidFill>
                <a:latin typeface="Calibri"/>
              </a:rPr>
              <a:t>Spring Boot 3.4.4</a:t>
            </a:r>
          </a:p>
        </p:txBody>
      </p:sp>
      <p:sp>
        <p:nvSpPr>
          <p:cNvPr id="19" name="Rounded Rectangle 18"/>
          <p:cNvSpPr/>
          <p:nvPr/>
        </p:nvSpPr>
        <p:spPr>
          <a:xfrm>
            <a:off x="4315968" y="170078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pring-cloud-logo.jpg"/>
          <p:cNvPicPr>
            <a:picLocks noChangeAspect="1"/>
          </p:cNvPicPr>
          <p:nvPr/>
        </p:nvPicPr>
        <p:blipFill>
          <a:blip r:embed="rId6"/>
          <a:stretch>
            <a:fillRect/>
          </a:stretch>
        </p:blipFill>
        <p:spPr>
          <a:xfrm>
            <a:off x="4665941" y="1792224"/>
            <a:ext cx="1128852" cy="1078991"/>
          </a:xfrm>
          <a:prstGeom prst="rect">
            <a:avLst/>
          </a:prstGeom>
        </p:spPr>
      </p:pic>
      <p:sp>
        <p:nvSpPr>
          <p:cNvPr id="21" name="TextBox 20"/>
          <p:cNvSpPr txBox="1"/>
          <p:nvPr/>
        </p:nvSpPr>
        <p:spPr>
          <a:xfrm>
            <a:off x="4389120" y="2907792"/>
            <a:ext cx="1682496" cy="621792"/>
          </a:xfrm>
          <a:prstGeom prst="rect">
            <a:avLst/>
          </a:prstGeom>
          <a:noFill/>
        </p:spPr>
        <p:txBody>
          <a:bodyPr wrap="square" anchor="ctr"/>
          <a:lstStyle/>
          <a:p>
            <a:pPr algn="ctr"/>
            <a:r>
              <a:rPr sz="1100" b="1" i="0">
                <a:solidFill>
                  <a:srgbClr val="0B2545"/>
                </a:solidFill>
                <a:latin typeface="Calibri"/>
              </a:rPr>
              <a:t>Spring Cloud Gateway</a:t>
            </a:r>
          </a:p>
        </p:txBody>
      </p:sp>
      <p:sp>
        <p:nvSpPr>
          <p:cNvPr id="22" name="Rounded Rectangle 21"/>
          <p:cNvSpPr/>
          <p:nvPr/>
        </p:nvSpPr>
        <p:spPr>
          <a:xfrm>
            <a:off x="6254496" y="170078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ring-security-logo.jpg"/>
          <p:cNvPicPr>
            <a:picLocks noChangeAspect="1"/>
          </p:cNvPicPr>
          <p:nvPr/>
        </p:nvPicPr>
        <p:blipFill>
          <a:blip r:embed="rId7"/>
          <a:stretch>
            <a:fillRect/>
          </a:stretch>
        </p:blipFill>
        <p:spPr>
          <a:xfrm>
            <a:off x="6510528" y="1975773"/>
            <a:ext cx="1316736" cy="711894"/>
          </a:xfrm>
          <a:prstGeom prst="rect">
            <a:avLst/>
          </a:prstGeom>
        </p:spPr>
      </p:pic>
      <p:sp>
        <p:nvSpPr>
          <p:cNvPr id="24" name="TextBox 23"/>
          <p:cNvSpPr txBox="1"/>
          <p:nvPr/>
        </p:nvSpPr>
        <p:spPr>
          <a:xfrm>
            <a:off x="6327648" y="2907792"/>
            <a:ext cx="1682496" cy="621792"/>
          </a:xfrm>
          <a:prstGeom prst="rect">
            <a:avLst/>
          </a:prstGeom>
          <a:noFill/>
        </p:spPr>
        <p:txBody>
          <a:bodyPr wrap="square" anchor="ctr"/>
          <a:lstStyle/>
          <a:p>
            <a:pPr algn="ctr"/>
            <a:r>
              <a:rPr sz="1100" b="1" i="0">
                <a:solidFill>
                  <a:srgbClr val="0B2545"/>
                </a:solidFill>
                <a:latin typeface="Calibri"/>
              </a:rPr>
              <a:t>Spring Security + JWT</a:t>
            </a:r>
          </a:p>
        </p:txBody>
      </p:sp>
      <p:sp>
        <p:nvSpPr>
          <p:cNvPr id="25" name="Rounded Rectangle 24"/>
          <p:cNvSpPr/>
          <p:nvPr/>
        </p:nvSpPr>
        <p:spPr>
          <a:xfrm>
            <a:off x="8193024" y="170078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ostgresql-logo.png"/>
          <p:cNvPicPr>
            <a:picLocks noChangeAspect="1"/>
          </p:cNvPicPr>
          <p:nvPr/>
        </p:nvPicPr>
        <p:blipFill>
          <a:blip r:embed="rId8"/>
          <a:stretch>
            <a:fillRect/>
          </a:stretch>
        </p:blipFill>
        <p:spPr>
          <a:xfrm>
            <a:off x="8621480" y="1792224"/>
            <a:ext cx="971886" cy="1078992"/>
          </a:xfrm>
          <a:prstGeom prst="rect">
            <a:avLst/>
          </a:prstGeom>
        </p:spPr>
      </p:pic>
      <p:sp>
        <p:nvSpPr>
          <p:cNvPr id="27" name="TextBox 26"/>
          <p:cNvSpPr txBox="1"/>
          <p:nvPr/>
        </p:nvSpPr>
        <p:spPr>
          <a:xfrm>
            <a:off x="8266176" y="2907792"/>
            <a:ext cx="1682496" cy="621792"/>
          </a:xfrm>
          <a:prstGeom prst="rect">
            <a:avLst/>
          </a:prstGeom>
          <a:noFill/>
        </p:spPr>
        <p:txBody>
          <a:bodyPr wrap="square" anchor="ctr"/>
          <a:lstStyle/>
          <a:p>
            <a:pPr algn="ctr"/>
            <a:r>
              <a:rPr sz="1100" b="1" i="0">
                <a:solidFill>
                  <a:srgbClr val="0B2545"/>
                </a:solidFill>
                <a:latin typeface="Calibri"/>
              </a:rPr>
              <a:t>PostgreSQL + Flyway</a:t>
            </a:r>
          </a:p>
        </p:txBody>
      </p:sp>
      <p:sp>
        <p:nvSpPr>
          <p:cNvPr id="28" name="Rounded Rectangle 27"/>
          <p:cNvSpPr/>
          <p:nvPr/>
        </p:nvSpPr>
        <p:spPr>
          <a:xfrm>
            <a:off x="10131552" y="170078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aven-logo.png"/>
          <p:cNvPicPr>
            <a:picLocks noChangeAspect="1"/>
          </p:cNvPicPr>
          <p:nvPr/>
        </p:nvPicPr>
        <p:blipFill>
          <a:blip r:embed="rId9"/>
          <a:stretch>
            <a:fillRect/>
          </a:stretch>
        </p:blipFill>
        <p:spPr>
          <a:xfrm>
            <a:off x="10387584" y="2144623"/>
            <a:ext cx="1316736" cy="374193"/>
          </a:xfrm>
          <a:prstGeom prst="rect">
            <a:avLst/>
          </a:prstGeom>
        </p:spPr>
      </p:pic>
      <p:sp>
        <p:nvSpPr>
          <p:cNvPr id="30" name="TextBox 29"/>
          <p:cNvSpPr txBox="1"/>
          <p:nvPr/>
        </p:nvSpPr>
        <p:spPr>
          <a:xfrm>
            <a:off x="10204704" y="2907792"/>
            <a:ext cx="1682496" cy="621792"/>
          </a:xfrm>
          <a:prstGeom prst="rect">
            <a:avLst/>
          </a:prstGeom>
          <a:noFill/>
        </p:spPr>
        <p:txBody>
          <a:bodyPr wrap="square" anchor="ctr"/>
          <a:lstStyle/>
          <a:p>
            <a:pPr algn="ctr"/>
            <a:r>
              <a:rPr sz="1100" b="1" i="0">
                <a:solidFill>
                  <a:srgbClr val="0B2545"/>
                </a:solidFill>
                <a:latin typeface="Calibri"/>
              </a:rPr>
              <a:t>Maven</a:t>
            </a:r>
          </a:p>
        </p:txBody>
      </p:sp>
      <p:sp>
        <p:nvSpPr>
          <p:cNvPr id="31" name="TextBox 30"/>
          <p:cNvSpPr txBox="1"/>
          <p:nvPr/>
        </p:nvSpPr>
        <p:spPr>
          <a:xfrm>
            <a:off x="438912" y="3822191"/>
            <a:ext cx="10972800" cy="292608"/>
          </a:xfrm>
          <a:prstGeom prst="rect">
            <a:avLst/>
          </a:prstGeom>
          <a:noFill/>
        </p:spPr>
        <p:txBody>
          <a:bodyPr wrap="square" anchor="t"/>
          <a:lstStyle/>
          <a:p>
            <a:pPr algn="l"/>
            <a:r>
              <a:rPr sz="1500" b="1" i="0">
                <a:solidFill>
                  <a:srgbClr val="008591"/>
                </a:solidFill>
                <a:latin typeface="Calibri"/>
              </a:rPr>
              <a:t>Métier &amp; front</a:t>
            </a:r>
          </a:p>
        </p:txBody>
      </p:sp>
      <p:sp>
        <p:nvSpPr>
          <p:cNvPr id="32" name="Rounded Rectangle 31"/>
          <p:cNvSpPr/>
          <p:nvPr/>
        </p:nvSpPr>
        <p:spPr>
          <a:xfrm>
            <a:off x="438912" y="416966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pache-poi-logo.png"/>
          <p:cNvPicPr>
            <a:picLocks noChangeAspect="1"/>
          </p:cNvPicPr>
          <p:nvPr/>
        </p:nvPicPr>
        <p:blipFill>
          <a:blip r:embed="rId10"/>
          <a:stretch>
            <a:fillRect/>
          </a:stretch>
        </p:blipFill>
        <p:spPr>
          <a:xfrm>
            <a:off x="694944" y="4361286"/>
            <a:ext cx="1316736" cy="878626"/>
          </a:xfrm>
          <a:prstGeom prst="rect">
            <a:avLst/>
          </a:prstGeom>
        </p:spPr>
      </p:pic>
      <p:sp>
        <p:nvSpPr>
          <p:cNvPr id="34" name="TextBox 33"/>
          <p:cNvSpPr txBox="1"/>
          <p:nvPr/>
        </p:nvSpPr>
        <p:spPr>
          <a:xfrm>
            <a:off x="512064" y="5376672"/>
            <a:ext cx="1682496" cy="621792"/>
          </a:xfrm>
          <a:prstGeom prst="rect">
            <a:avLst/>
          </a:prstGeom>
          <a:noFill/>
        </p:spPr>
        <p:txBody>
          <a:bodyPr wrap="square" anchor="ctr"/>
          <a:lstStyle/>
          <a:p>
            <a:pPr algn="ctr"/>
            <a:r>
              <a:rPr sz="1100" b="1" i="0">
                <a:solidFill>
                  <a:srgbClr val="0B2545"/>
                </a:solidFill>
                <a:latin typeface="Calibri"/>
              </a:rPr>
              <a:t>Apache POI (Excel)</a:t>
            </a:r>
          </a:p>
        </p:txBody>
      </p:sp>
      <p:sp>
        <p:nvSpPr>
          <p:cNvPr id="35" name="Rounded Rectangle 34"/>
          <p:cNvSpPr/>
          <p:nvPr/>
        </p:nvSpPr>
        <p:spPr>
          <a:xfrm>
            <a:off x="2377440" y="416966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openpdf-logo.png"/>
          <p:cNvPicPr>
            <a:picLocks noChangeAspect="1"/>
          </p:cNvPicPr>
          <p:nvPr/>
        </p:nvPicPr>
        <p:blipFill>
          <a:blip r:embed="rId11"/>
          <a:stretch>
            <a:fillRect/>
          </a:stretch>
        </p:blipFill>
        <p:spPr>
          <a:xfrm>
            <a:off x="2752344" y="4261104"/>
            <a:ext cx="1078992" cy="1078992"/>
          </a:xfrm>
          <a:prstGeom prst="rect">
            <a:avLst/>
          </a:prstGeom>
        </p:spPr>
      </p:pic>
      <p:sp>
        <p:nvSpPr>
          <p:cNvPr id="37" name="TextBox 36"/>
          <p:cNvSpPr txBox="1"/>
          <p:nvPr/>
        </p:nvSpPr>
        <p:spPr>
          <a:xfrm>
            <a:off x="2450592" y="5376672"/>
            <a:ext cx="1682496" cy="621792"/>
          </a:xfrm>
          <a:prstGeom prst="rect">
            <a:avLst/>
          </a:prstGeom>
          <a:noFill/>
        </p:spPr>
        <p:txBody>
          <a:bodyPr wrap="square" anchor="ctr"/>
          <a:lstStyle/>
          <a:p>
            <a:pPr algn="ctr"/>
            <a:r>
              <a:rPr sz="1100" b="1" i="0">
                <a:solidFill>
                  <a:srgbClr val="0B2545"/>
                </a:solidFill>
                <a:latin typeface="Calibri"/>
              </a:rPr>
              <a:t>OpenPDF + Spring Mail</a:t>
            </a:r>
          </a:p>
        </p:txBody>
      </p:sp>
      <p:sp>
        <p:nvSpPr>
          <p:cNvPr id="38" name="Rounded Rectangle 37"/>
          <p:cNvSpPr/>
          <p:nvPr/>
        </p:nvSpPr>
        <p:spPr>
          <a:xfrm>
            <a:off x="4315968" y="416966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react-logo.png"/>
          <p:cNvPicPr>
            <a:picLocks noChangeAspect="1"/>
          </p:cNvPicPr>
          <p:nvPr/>
        </p:nvPicPr>
        <p:blipFill>
          <a:blip r:embed="rId12"/>
          <a:stretch>
            <a:fillRect/>
          </a:stretch>
        </p:blipFill>
        <p:spPr>
          <a:xfrm>
            <a:off x="4639070" y="4261104"/>
            <a:ext cx="1182595" cy="1078992"/>
          </a:xfrm>
          <a:prstGeom prst="rect">
            <a:avLst/>
          </a:prstGeom>
        </p:spPr>
      </p:pic>
      <p:sp>
        <p:nvSpPr>
          <p:cNvPr id="40" name="TextBox 39"/>
          <p:cNvSpPr txBox="1"/>
          <p:nvPr/>
        </p:nvSpPr>
        <p:spPr>
          <a:xfrm>
            <a:off x="4389120" y="5376672"/>
            <a:ext cx="1682496" cy="621792"/>
          </a:xfrm>
          <a:prstGeom prst="rect">
            <a:avLst/>
          </a:prstGeom>
          <a:noFill/>
        </p:spPr>
        <p:txBody>
          <a:bodyPr wrap="square" anchor="ctr"/>
          <a:lstStyle/>
          <a:p>
            <a:pPr algn="ctr"/>
            <a:r>
              <a:rPr sz="1100" b="1" i="0">
                <a:solidFill>
                  <a:srgbClr val="0B2545"/>
                </a:solidFill>
                <a:latin typeface="Calibri"/>
              </a:rPr>
              <a:t>React 19</a:t>
            </a:r>
          </a:p>
        </p:txBody>
      </p:sp>
      <p:sp>
        <p:nvSpPr>
          <p:cNvPr id="41" name="Rounded Rectangle 40"/>
          <p:cNvSpPr/>
          <p:nvPr/>
        </p:nvSpPr>
        <p:spPr>
          <a:xfrm>
            <a:off x="6254496" y="416966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typescript-logo.png"/>
          <p:cNvPicPr>
            <a:picLocks noChangeAspect="1"/>
          </p:cNvPicPr>
          <p:nvPr/>
        </p:nvPicPr>
        <p:blipFill>
          <a:blip r:embed="rId13"/>
          <a:stretch>
            <a:fillRect/>
          </a:stretch>
        </p:blipFill>
        <p:spPr>
          <a:xfrm>
            <a:off x="6629400" y="4261104"/>
            <a:ext cx="1078992" cy="1078992"/>
          </a:xfrm>
          <a:prstGeom prst="rect">
            <a:avLst/>
          </a:prstGeom>
        </p:spPr>
      </p:pic>
      <p:sp>
        <p:nvSpPr>
          <p:cNvPr id="43" name="TextBox 42"/>
          <p:cNvSpPr txBox="1"/>
          <p:nvPr/>
        </p:nvSpPr>
        <p:spPr>
          <a:xfrm>
            <a:off x="6327648" y="5376672"/>
            <a:ext cx="1682496" cy="621792"/>
          </a:xfrm>
          <a:prstGeom prst="rect">
            <a:avLst/>
          </a:prstGeom>
          <a:noFill/>
        </p:spPr>
        <p:txBody>
          <a:bodyPr wrap="square" anchor="ctr"/>
          <a:lstStyle/>
          <a:p>
            <a:pPr algn="ctr"/>
            <a:r>
              <a:rPr sz="1100" b="1" i="0">
                <a:solidFill>
                  <a:srgbClr val="0B2545"/>
                </a:solidFill>
                <a:latin typeface="Calibri"/>
              </a:rPr>
              <a:t>TypeScript + Vite 6</a:t>
            </a:r>
          </a:p>
        </p:txBody>
      </p:sp>
      <p:sp>
        <p:nvSpPr>
          <p:cNvPr id="44" name="Rounded Rectangle 43"/>
          <p:cNvSpPr/>
          <p:nvPr/>
        </p:nvSpPr>
        <p:spPr>
          <a:xfrm>
            <a:off x="8193024" y="416966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axios-logo.png"/>
          <p:cNvPicPr>
            <a:picLocks noChangeAspect="1"/>
          </p:cNvPicPr>
          <p:nvPr/>
        </p:nvPicPr>
        <p:blipFill>
          <a:blip r:embed="rId14"/>
          <a:stretch>
            <a:fillRect/>
          </a:stretch>
        </p:blipFill>
        <p:spPr>
          <a:xfrm>
            <a:off x="8449056" y="4431271"/>
            <a:ext cx="1316736" cy="738657"/>
          </a:xfrm>
          <a:prstGeom prst="rect">
            <a:avLst/>
          </a:prstGeom>
        </p:spPr>
      </p:pic>
      <p:sp>
        <p:nvSpPr>
          <p:cNvPr id="46" name="TextBox 45"/>
          <p:cNvSpPr txBox="1"/>
          <p:nvPr/>
        </p:nvSpPr>
        <p:spPr>
          <a:xfrm>
            <a:off x="8266176" y="5376672"/>
            <a:ext cx="1682496" cy="621792"/>
          </a:xfrm>
          <a:prstGeom prst="rect">
            <a:avLst/>
          </a:prstGeom>
          <a:noFill/>
        </p:spPr>
        <p:txBody>
          <a:bodyPr wrap="square" anchor="ctr"/>
          <a:lstStyle/>
          <a:p>
            <a:pPr algn="ctr"/>
            <a:r>
              <a:rPr sz="1100" b="1" i="0">
                <a:solidFill>
                  <a:srgbClr val="0B2545"/>
                </a:solidFill>
                <a:latin typeface="Calibri"/>
              </a:rPr>
              <a:t>Axios</a:t>
            </a:r>
          </a:p>
        </p:txBody>
      </p:sp>
      <p:sp>
        <p:nvSpPr>
          <p:cNvPr id="47" name="Rounded Rectangle 46"/>
          <p:cNvSpPr/>
          <p:nvPr/>
        </p:nvSpPr>
        <p:spPr>
          <a:xfrm>
            <a:off x="10131552" y="4169664"/>
            <a:ext cx="1828800" cy="1938528"/>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jspdf-logo.png"/>
          <p:cNvPicPr>
            <a:picLocks noChangeAspect="1"/>
          </p:cNvPicPr>
          <p:nvPr/>
        </p:nvPicPr>
        <p:blipFill>
          <a:blip r:embed="rId15"/>
          <a:stretch>
            <a:fillRect/>
          </a:stretch>
        </p:blipFill>
        <p:spPr>
          <a:xfrm>
            <a:off x="10387584" y="4580579"/>
            <a:ext cx="1316736" cy="440040"/>
          </a:xfrm>
          <a:prstGeom prst="rect">
            <a:avLst/>
          </a:prstGeom>
        </p:spPr>
      </p:pic>
      <p:sp>
        <p:nvSpPr>
          <p:cNvPr id="49" name="TextBox 48"/>
          <p:cNvSpPr txBox="1"/>
          <p:nvPr/>
        </p:nvSpPr>
        <p:spPr>
          <a:xfrm>
            <a:off x="10204704" y="5376672"/>
            <a:ext cx="1682496" cy="621792"/>
          </a:xfrm>
          <a:prstGeom prst="rect">
            <a:avLst/>
          </a:prstGeom>
          <a:noFill/>
        </p:spPr>
        <p:txBody>
          <a:bodyPr wrap="square" anchor="ctr"/>
          <a:lstStyle/>
          <a:p>
            <a:pPr algn="ctr"/>
            <a:r>
              <a:rPr sz="1100" b="1" i="0">
                <a:solidFill>
                  <a:srgbClr val="0B2545"/>
                </a:solidFill>
                <a:latin typeface="Calibri"/>
              </a:rPr>
              <a:t>jsPDF / docx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Connexion</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20 / 29</a:t>
            </a:r>
          </a:p>
        </p:txBody>
      </p:sp>
      <p:sp>
        <p:nvSpPr>
          <p:cNvPr id="12" name="TextBox 11"/>
          <p:cNvSpPr txBox="1"/>
          <p:nvPr/>
        </p:nvSpPr>
        <p:spPr>
          <a:xfrm>
            <a:off x="457200" y="1280160"/>
            <a:ext cx="11247120" cy="292608"/>
          </a:xfrm>
          <a:prstGeom prst="rect">
            <a:avLst/>
          </a:prstGeom>
          <a:noFill/>
        </p:spPr>
        <p:txBody>
          <a:bodyPr wrap="square" anchor="t"/>
          <a:lstStyle/>
          <a:p>
            <a:pPr algn="l"/>
            <a:r>
              <a:rPr sz="1400" b="0" i="0">
                <a:solidFill>
                  <a:srgbClr val="4B5563"/>
                </a:solidFill>
                <a:latin typeface="Calibri"/>
              </a:rPr>
              <a:t>Identité visuelle MEF  ·  aucun écran métier sans authentification</a:t>
            </a:r>
          </a:p>
        </p:txBody>
      </p:sp>
      <p:pic>
        <p:nvPicPr>
          <p:cNvPr id="13" name="Picture 12" descr="screenshot-connexion.png"/>
          <p:cNvPicPr>
            <a:picLocks noChangeAspect="1"/>
          </p:cNvPicPr>
          <p:nvPr/>
        </p:nvPicPr>
        <p:blipFill>
          <a:blip r:embed="rId4"/>
          <a:stretch>
            <a:fillRect/>
          </a:stretch>
        </p:blipFill>
        <p:spPr>
          <a:xfrm>
            <a:off x="1066657" y="1609344"/>
            <a:ext cx="10028204"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Tableau de bord opérationnel</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21 / 29</a:t>
            </a:r>
          </a:p>
        </p:txBody>
      </p:sp>
      <p:sp>
        <p:nvSpPr>
          <p:cNvPr id="12" name="TextBox 11"/>
          <p:cNvSpPr txBox="1"/>
          <p:nvPr/>
        </p:nvSpPr>
        <p:spPr>
          <a:xfrm>
            <a:off x="457200" y="1280160"/>
            <a:ext cx="11247120" cy="292608"/>
          </a:xfrm>
          <a:prstGeom prst="rect">
            <a:avLst/>
          </a:prstGeom>
          <a:noFill/>
        </p:spPr>
        <p:txBody>
          <a:bodyPr wrap="square" anchor="t"/>
          <a:lstStyle/>
          <a:p>
            <a:pPr algn="l"/>
            <a:r>
              <a:rPr sz="1400" b="0" i="0">
                <a:solidFill>
                  <a:srgbClr val="4B5563"/>
                </a:solidFill>
                <a:latin typeface="Calibri"/>
              </a:rPr>
              <a:t>Une vue consolidée : effectifs, salles, dernière répartition, convocations</a:t>
            </a:r>
          </a:p>
        </p:txBody>
      </p:sp>
      <p:pic>
        <p:nvPicPr>
          <p:cNvPr id="13" name="Picture 12" descr="screenshot-dashboard.png"/>
          <p:cNvPicPr>
            <a:picLocks noChangeAspect="1"/>
          </p:cNvPicPr>
          <p:nvPr/>
        </p:nvPicPr>
        <p:blipFill>
          <a:blip r:embed="rId4"/>
          <a:stretch>
            <a:fillRect/>
          </a:stretch>
        </p:blipFill>
        <p:spPr>
          <a:xfrm>
            <a:off x="1399032" y="1609344"/>
            <a:ext cx="9363456"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Référentiel des lieux d'examen</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22 / 29</a:t>
            </a:r>
          </a:p>
        </p:txBody>
      </p:sp>
      <p:sp>
        <p:nvSpPr>
          <p:cNvPr id="12" name="TextBox 11"/>
          <p:cNvSpPr txBox="1"/>
          <p:nvPr/>
        </p:nvSpPr>
        <p:spPr>
          <a:xfrm>
            <a:off x="457200" y="1280160"/>
            <a:ext cx="11247120" cy="292608"/>
          </a:xfrm>
          <a:prstGeom prst="rect">
            <a:avLst/>
          </a:prstGeom>
          <a:noFill/>
        </p:spPr>
        <p:txBody>
          <a:bodyPr wrap="square" anchor="t"/>
          <a:lstStyle/>
          <a:p>
            <a:pPr algn="l"/>
            <a:r>
              <a:rPr sz="1400" b="0" i="0">
                <a:solidFill>
                  <a:srgbClr val="4B5563"/>
                </a:solidFill>
                <a:latin typeface="Calibri"/>
              </a:rPr>
              <a:t>Centre → établissement → salle  ·  une salle = un concours et une capacité</a:t>
            </a:r>
          </a:p>
        </p:txBody>
      </p:sp>
      <p:pic>
        <p:nvPicPr>
          <p:cNvPr id="13" name="Picture 12" descr="screenshot-lieux.png"/>
          <p:cNvPicPr>
            <a:picLocks noChangeAspect="1"/>
          </p:cNvPicPr>
          <p:nvPr/>
        </p:nvPicPr>
        <p:blipFill>
          <a:blip r:embed="rId4"/>
          <a:stretch>
            <a:fillRect/>
          </a:stretch>
        </p:blipFill>
        <p:spPr>
          <a:xfrm>
            <a:off x="1953961" y="1609344"/>
            <a:ext cx="8253597"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Candidats : import Excel, pas de saisie unitaire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23 / 29</a:t>
            </a:r>
          </a:p>
        </p:txBody>
      </p:sp>
      <p:sp>
        <p:nvSpPr>
          <p:cNvPr id="12" name="TextBox 11"/>
          <p:cNvSpPr txBox="1"/>
          <p:nvPr/>
        </p:nvSpPr>
        <p:spPr>
          <a:xfrm>
            <a:off x="457200" y="1280160"/>
            <a:ext cx="11247120" cy="292608"/>
          </a:xfrm>
          <a:prstGeom prst="rect">
            <a:avLst/>
          </a:prstGeom>
          <a:noFill/>
        </p:spPr>
        <p:txBody>
          <a:bodyPr wrap="square" anchor="t"/>
          <a:lstStyle/>
          <a:p>
            <a:pPr algn="l"/>
            <a:r>
              <a:rPr sz="1400" b="0" i="0">
                <a:solidFill>
                  <a:srgbClr val="4B5563"/>
                </a:solidFill>
                <a:latin typeface="Calibri"/>
              </a:rPr>
              <a:t>Importer / réinitialiser  ·  filtres  ·  affectation visible sur chaque fiche</a:t>
            </a:r>
          </a:p>
        </p:txBody>
      </p:sp>
      <p:pic>
        <p:nvPicPr>
          <p:cNvPr id="13" name="Picture 12" descr="screenshot-candidats.png"/>
          <p:cNvPicPr>
            <a:picLocks noChangeAspect="1"/>
          </p:cNvPicPr>
          <p:nvPr/>
        </p:nvPicPr>
        <p:blipFill>
          <a:blip r:embed="rId4"/>
          <a:stretch>
            <a:fillRect/>
          </a:stretch>
        </p:blipFill>
        <p:spPr>
          <a:xfrm>
            <a:off x="1390148" y="1609344"/>
            <a:ext cx="9381223"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Répartition automatique : une exécution, une synthèse</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24 / 29</a:t>
            </a:r>
          </a:p>
        </p:txBody>
      </p:sp>
      <p:sp>
        <p:nvSpPr>
          <p:cNvPr id="12" name="TextBox 11"/>
          <p:cNvSpPr txBox="1"/>
          <p:nvPr/>
        </p:nvSpPr>
        <p:spPr>
          <a:xfrm>
            <a:off x="457200" y="1280160"/>
            <a:ext cx="11247120" cy="292608"/>
          </a:xfrm>
          <a:prstGeom prst="rect">
            <a:avLst/>
          </a:prstGeom>
          <a:noFill/>
        </p:spPr>
        <p:txBody>
          <a:bodyPr wrap="square" anchor="t"/>
          <a:lstStyle/>
          <a:p>
            <a:pPr algn="l"/>
            <a:r>
              <a:rPr sz="1400" b="0" i="0">
                <a:solidFill>
                  <a:srgbClr val="4B5563"/>
                </a:solidFill>
                <a:latin typeface="Calibri"/>
              </a:rPr>
              <a:t>Run #17  ·  104 / 104 affectés  ·  0 alerte  ·  export Word et PDF</a:t>
            </a:r>
          </a:p>
        </p:txBody>
      </p:sp>
      <p:pic>
        <p:nvPicPr>
          <p:cNvPr id="13" name="Picture 12" descr="screenshot-repartition-synthese.png"/>
          <p:cNvPicPr>
            <a:picLocks noChangeAspect="1"/>
          </p:cNvPicPr>
          <p:nvPr/>
        </p:nvPicPr>
        <p:blipFill>
          <a:blip r:embed="rId4"/>
          <a:stretch>
            <a:fillRect/>
          </a:stretch>
        </p:blipFill>
        <p:spPr>
          <a:xfrm>
            <a:off x="3374136" y="1609344"/>
            <a:ext cx="5413248"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Convocations : aperçu, PDF, envoi groupé</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25 / 29</a:t>
            </a:r>
          </a:p>
        </p:txBody>
      </p:sp>
      <p:sp>
        <p:nvSpPr>
          <p:cNvPr id="12" name="TextBox 11"/>
          <p:cNvSpPr txBox="1"/>
          <p:nvPr/>
        </p:nvSpPr>
        <p:spPr>
          <a:xfrm>
            <a:off x="457200" y="1280160"/>
            <a:ext cx="11247120" cy="292608"/>
          </a:xfrm>
          <a:prstGeom prst="rect">
            <a:avLst/>
          </a:prstGeom>
          <a:noFill/>
        </p:spPr>
        <p:txBody>
          <a:bodyPr wrap="square" anchor="t"/>
          <a:lstStyle/>
          <a:p>
            <a:pPr algn="l"/>
            <a:r>
              <a:rPr sz="1400" b="0" i="0">
                <a:solidFill>
                  <a:srgbClr val="4B5563"/>
                </a:solidFill>
                <a:latin typeface="Calibri"/>
              </a:rPr>
              <a:t>Une convocation seulement si l'affectation est complète  ·  100 envoyées, 4 échecs tracés</a:t>
            </a:r>
          </a:p>
        </p:txBody>
      </p:sp>
      <p:pic>
        <p:nvPicPr>
          <p:cNvPr id="13" name="Picture 12" descr="screenshot-convocations.png"/>
          <p:cNvPicPr>
            <a:picLocks noChangeAspect="1"/>
          </p:cNvPicPr>
          <p:nvPr/>
        </p:nvPicPr>
        <p:blipFill>
          <a:blip r:embed="rId4"/>
          <a:stretch>
            <a:fillRect/>
          </a:stretch>
        </p:blipFill>
        <p:spPr>
          <a:xfrm>
            <a:off x="2271896" y="1609344"/>
            <a:ext cx="7617726" cy="482803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5  ·  Réalisation</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PDF officiel et lecture seule administrateur</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26 / 29</a:t>
            </a:r>
          </a:p>
        </p:txBody>
      </p:sp>
      <p:sp>
        <p:nvSpPr>
          <p:cNvPr id="12" name="TextBox 11"/>
          <p:cNvSpPr txBox="1"/>
          <p:nvPr/>
        </p:nvSpPr>
        <p:spPr>
          <a:xfrm>
            <a:off x="438912" y="1280160"/>
            <a:ext cx="5532120" cy="292608"/>
          </a:xfrm>
          <a:prstGeom prst="rect">
            <a:avLst/>
          </a:prstGeom>
          <a:noFill/>
        </p:spPr>
        <p:txBody>
          <a:bodyPr wrap="square" anchor="t"/>
          <a:lstStyle/>
          <a:p>
            <a:pPr algn="l"/>
            <a:r>
              <a:rPr sz="1300" b="1" i="0">
                <a:solidFill>
                  <a:srgbClr val="008591"/>
                </a:solidFill>
                <a:latin typeface="Calibri"/>
              </a:rPr>
              <a:t>Convocation serveur (OpenPDF)</a:t>
            </a:r>
          </a:p>
        </p:txBody>
      </p:sp>
      <p:sp>
        <p:nvSpPr>
          <p:cNvPr id="13" name="TextBox 12"/>
          <p:cNvSpPr txBox="1"/>
          <p:nvPr/>
        </p:nvSpPr>
        <p:spPr>
          <a:xfrm>
            <a:off x="6217920" y="1280160"/>
            <a:ext cx="5532120" cy="292608"/>
          </a:xfrm>
          <a:prstGeom prst="rect">
            <a:avLst/>
          </a:prstGeom>
          <a:noFill/>
        </p:spPr>
        <p:txBody>
          <a:bodyPr wrap="square" anchor="t"/>
          <a:lstStyle/>
          <a:p>
            <a:pPr algn="l"/>
            <a:r>
              <a:rPr sz="1300" b="1" i="0">
                <a:solidFill>
                  <a:srgbClr val="008591"/>
                </a:solidFill>
                <a:latin typeface="Calibri"/>
              </a:rPr>
              <a:t>Vue administrateur : pas de boutons d'écriture</a:t>
            </a:r>
          </a:p>
        </p:txBody>
      </p:sp>
      <p:pic>
        <p:nvPicPr>
          <p:cNvPr id="14" name="Picture 13" descr="screenshot-convocation-pdf.png"/>
          <p:cNvPicPr>
            <a:picLocks noChangeAspect="1"/>
          </p:cNvPicPr>
          <p:nvPr/>
        </p:nvPicPr>
        <p:blipFill>
          <a:blip r:embed="rId4"/>
          <a:stretch>
            <a:fillRect/>
          </a:stretch>
        </p:blipFill>
        <p:spPr>
          <a:xfrm>
            <a:off x="384048" y="2161448"/>
            <a:ext cx="5669280" cy="3687247"/>
          </a:xfrm>
          <a:prstGeom prst="rect">
            <a:avLst/>
          </a:prstGeom>
        </p:spPr>
      </p:pic>
      <p:pic>
        <p:nvPicPr>
          <p:cNvPr id="15" name="Picture 14" descr="screenshot-admin-candidats.png"/>
          <p:cNvPicPr>
            <a:picLocks noChangeAspect="1"/>
          </p:cNvPicPr>
          <p:nvPr/>
        </p:nvPicPr>
        <p:blipFill>
          <a:blip r:embed="rId5"/>
          <a:stretch>
            <a:fillRect/>
          </a:stretch>
        </p:blipFill>
        <p:spPr>
          <a:xfrm>
            <a:off x="6144768" y="2139303"/>
            <a:ext cx="5669280" cy="373153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6  ·  Bilan et perspectives</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Bilan : ce qui a été livré</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27 / 29</a:t>
            </a:r>
          </a:p>
        </p:txBody>
      </p:sp>
      <p:sp>
        <p:nvSpPr>
          <p:cNvPr id="12" name="Rounded Rectangle 11"/>
          <p:cNvSpPr/>
          <p:nvPr/>
        </p:nvSpPr>
        <p:spPr>
          <a:xfrm>
            <a:off x="438912" y="1353312"/>
            <a:ext cx="5596128" cy="15544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1554480"/>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554480"/>
            <a:ext cx="384048" cy="384048"/>
          </a:xfrm>
          <a:prstGeom prst="rect">
            <a:avLst/>
          </a:prstGeom>
          <a:noFill/>
        </p:spPr>
        <p:txBody>
          <a:bodyPr wrap="square" anchor="ctr"/>
          <a:lstStyle/>
          <a:p>
            <a:pPr algn="ctr"/>
            <a:r>
              <a:rPr sz="1400" b="1" i="0">
                <a:solidFill>
                  <a:srgbClr val="FFFFFF"/>
                </a:solidFill>
                <a:latin typeface="Calibri"/>
              </a:rPr>
              <a:t>1</a:t>
            </a:r>
          </a:p>
        </p:txBody>
      </p:sp>
      <p:sp>
        <p:nvSpPr>
          <p:cNvPr id="15" name="TextBox 14"/>
          <p:cNvSpPr txBox="1"/>
          <p:nvPr/>
        </p:nvSpPr>
        <p:spPr>
          <a:xfrm>
            <a:off x="1152144" y="1572768"/>
            <a:ext cx="4663440" cy="365760"/>
          </a:xfrm>
          <a:prstGeom prst="rect">
            <a:avLst/>
          </a:prstGeom>
          <a:noFill/>
        </p:spPr>
        <p:txBody>
          <a:bodyPr wrap="square" anchor="t"/>
          <a:lstStyle/>
          <a:p>
            <a:pPr algn="l"/>
            <a:r>
              <a:rPr sz="1600" b="1" i="0">
                <a:solidFill>
                  <a:srgbClr val="0B2545"/>
                </a:solidFill>
                <a:latin typeface="Calibri"/>
              </a:rPr>
              <a:t>Plateforme intégrée</a:t>
            </a:r>
          </a:p>
        </p:txBody>
      </p:sp>
      <p:sp>
        <p:nvSpPr>
          <p:cNvPr id="16" name="TextBox 15"/>
          <p:cNvSpPr txBox="1"/>
          <p:nvPr/>
        </p:nvSpPr>
        <p:spPr>
          <a:xfrm>
            <a:off x="640080" y="2066544"/>
            <a:ext cx="5193792" cy="658368"/>
          </a:xfrm>
          <a:prstGeom prst="rect">
            <a:avLst/>
          </a:prstGeom>
          <a:noFill/>
        </p:spPr>
        <p:txBody>
          <a:bodyPr wrap="square" anchor="t"/>
          <a:lstStyle/>
          <a:p>
            <a:pPr algn="l"/>
            <a:r>
              <a:rPr sz="1400" b="0" i="0">
                <a:solidFill>
                  <a:srgbClr val="1F2937"/>
                </a:solidFill>
                <a:latin typeface="Calibri"/>
              </a:rPr>
              <a:t>Import Excel, lieux, concours, répartition, convocations, tableau de bord.</a:t>
            </a:r>
          </a:p>
        </p:txBody>
      </p:sp>
      <p:sp>
        <p:nvSpPr>
          <p:cNvPr id="17" name="Rounded Rectangle 16"/>
          <p:cNvSpPr/>
          <p:nvPr/>
        </p:nvSpPr>
        <p:spPr>
          <a:xfrm>
            <a:off x="6245352" y="1353312"/>
            <a:ext cx="5596128" cy="15544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1554480"/>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1554480"/>
            <a:ext cx="384048" cy="384048"/>
          </a:xfrm>
          <a:prstGeom prst="rect">
            <a:avLst/>
          </a:prstGeom>
          <a:noFill/>
        </p:spPr>
        <p:txBody>
          <a:bodyPr wrap="square" anchor="ctr"/>
          <a:lstStyle/>
          <a:p>
            <a:pPr algn="ctr"/>
            <a:r>
              <a:rPr sz="1400" b="1" i="0">
                <a:solidFill>
                  <a:srgbClr val="FFFFFF"/>
                </a:solidFill>
                <a:latin typeface="Calibri"/>
              </a:rPr>
              <a:t>2</a:t>
            </a:r>
          </a:p>
        </p:txBody>
      </p:sp>
      <p:sp>
        <p:nvSpPr>
          <p:cNvPr id="20" name="TextBox 19"/>
          <p:cNvSpPr txBox="1"/>
          <p:nvPr/>
        </p:nvSpPr>
        <p:spPr>
          <a:xfrm>
            <a:off x="6958584" y="1572768"/>
            <a:ext cx="4663440" cy="365760"/>
          </a:xfrm>
          <a:prstGeom prst="rect">
            <a:avLst/>
          </a:prstGeom>
          <a:noFill/>
        </p:spPr>
        <p:txBody>
          <a:bodyPr wrap="square" anchor="t"/>
          <a:lstStyle/>
          <a:p>
            <a:pPr algn="l"/>
            <a:r>
              <a:rPr sz="1600" b="1" i="0">
                <a:solidFill>
                  <a:srgbClr val="0B2545"/>
                </a:solidFill>
                <a:latin typeface="Calibri"/>
              </a:rPr>
              <a:t>Contrôle humain conservé</a:t>
            </a:r>
          </a:p>
        </p:txBody>
      </p:sp>
      <p:sp>
        <p:nvSpPr>
          <p:cNvPr id="21" name="TextBox 20"/>
          <p:cNvSpPr txBox="1"/>
          <p:nvPr/>
        </p:nvSpPr>
        <p:spPr>
          <a:xfrm>
            <a:off x="6446520" y="2066544"/>
            <a:ext cx="5193792" cy="658368"/>
          </a:xfrm>
          <a:prstGeom prst="rect">
            <a:avLst/>
          </a:prstGeom>
          <a:noFill/>
        </p:spPr>
        <p:txBody>
          <a:bodyPr wrap="square" anchor="t"/>
          <a:lstStyle/>
          <a:p>
            <a:pPr algn="l"/>
            <a:r>
              <a:rPr sz="1400" b="0" i="0">
                <a:solidFill>
                  <a:srgbClr val="1F2937"/>
                </a:solidFill>
                <a:latin typeface="Calibri"/>
              </a:rPr>
              <a:t>Affectation manuelle, aperçu PDF avant envoi, admin en lecture seule.</a:t>
            </a:r>
          </a:p>
        </p:txBody>
      </p:sp>
      <p:sp>
        <p:nvSpPr>
          <p:cNvPr id="22" name="Rounded Rectangle 21"/>
          <p:cNvSpPr/>
          <p:nvPr/>
        </p:nvSpPr>
        <p:spPr>
          <a:xfrm>
            <a:off x="438912" y="3044952"/>
            <a:ext cx="5596128" cy="15544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1792" y="3246120"/>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246120"/>
            <a:ext cx="384048" cy="384048"/>
          </a:xfrm>
          <a:prstGeom prst="rect">
            <a:avLst/>
          </a:prstGeom>
          <a:noFill/>
        </p:spPr>
        <p:txBody>
          <a:bodyPr wrap="square" anchor="ctr"/>
          <a:lstStyle/>
          <a:p>
            <a:pPr algn="ctr"/>
            <a:r>
              <a:rPr sz="1400" b="1" i="0">
                <a:solidFill>
                  <a:srgbClr val="FFFFFF"/>
                </a:solidFill>
                <a:latin typeface="Calibri"/>
              </a:rPr>
              <a:t>3</a:t>
            </a:r>
          </a:p>
        </p:txBody>
      </p:sp>
      <p:sp>
        <p:nvSpPr>
          <p:cNvPr id="25" name="TextBox 24"/>
          <p:cNvSpPr txBox="1"/>
          <p:nvPr/>
        </p:nvSpPr>
        <p:spPr>
          <a:xfrm>
            <a:off x="1152144" y="3264408"/>
            <a:ext cx="4663440" cy="365760"/>
          </a:xfrm>
          <a:prstGeom prst="rect">
            <a:avLst/>
          </a:prstGeom>
          <a:noFill/>
        </p:spPr>
        <p:txBody>
          <a:bodyPr wrap="square" anchor="t"/>
          <a:lstStyle/>
          <a:p>
            <a:pPr algn="l"/>
            <a:r>
              <a:rPr sz="1600" b="1" i="0">
                <a:solidFill>
                  <a:srgbClr val="0B2545"/>
                </a:solidFill>
                <a:latin typeface="Calibri"/>
              </a:rPr>
              <a:t>Architecture maintenable</a:t>
            </a:r>
          </a:p>
        </p:txBody>
      </p:sp>
      <p:sp>
        <p:nvSpPr>
          <p:cNvPr id="26" name="TextBox 25"/>
          <p:cNvSpPr txBox="1"/>
          <p:nvPr/>
        </p:nvSpPr>
        <p:spPr>
          <a:xfrm>
            <a:off x="640080" y="3758184"/>
            <a:ext cx="5193792" cy="658368"/>
          </a:xfrm>
          <a:prstGeom prst="rect">
            <a:avLst/>
          </a:prstGeom>
          <a:noFill/>
        </p:spPr>
        <p:txBody>
          <a:bodyPr wrap="square" anchor="t"/>
          <a:lstStyle/>
          <a:p>
            <a:pPr algn="l"/>
            <a:r>
              <a:rPr sz="1400" b="0" i="0">
                <a:solidFill>
                  <a:srgbClr val="1F2937"/>
                </a:solidFill>
                <a:latin typeface="Calibri"/>
              </a:rPr>
              <a:t>Gateway, 6 microservices, une base par service, JWT.</a:t>
            </a:r>
          </a:p>
        </p:txBody>
      </p:sp>
      <p:sp>
        <p:nvSpPr>
          <p:cNvPr id="27" name="Rounded Rectangle 26"/>
          <p:cNvSpPr/>
          <p:nvPr/>
        </p:nvSpPr>
        <p:spPr>
          <a:xfrm>
            <a:off x="6245352" y="3044952"/>
            <a:ext cx="5596128" cy="1554480"/>
          </a:xfrm>
          <a:prstGeom prst="roundRect">
            <a:avLst>
              <a:gd name="adj" fmla="val 10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28232" y="3246120"/>
            <a:ext cx="384048" cy="384048"/>
          </a:xfrm>
          <a:prstGeom prst="ellipse">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3246120"/>
            <a:ext cx="384048" cy="384048"/>
          </a:xfrm>
          <a:prstGeom prst="rect">
            <a:avLst/>
          </a:prstGeom>
          <a:noFill/>
        </p:spPr>
        <p:txBody>
          <a:bodyPr wrap="square" anchor="ctr"/>
          <a:lstStyle/>
          <a:p>
            <a:pPr algn="ctr"/>
            <a:r>
              <a:rPr sz="1400" b="1" i="0">
                <a:solidFill>
                  <a:srgbClr val="FFFFFF"/>
                </a:solidFill>
                <a:latin typeface="Calibri"/>
              </a:rPr>
              <a:t>4</a:t>
            </a:r>
          </a:p>
        </p:txBody>
      </p:sp>
      <p:sp>
        <p:nvSpPr>
          <p:cNvPr id="30" name="TextBox 29"/>
          <p:cNvSpPr txBox="1"/>
          <p:nvPr/>
        </p:nvSpPr>
        <p:spPr>
          <a:xfrm>
            <a:off x="6958584" y="3264408"/>
            <a:ext cx="4663440" cy="365760"/>
          </a:xfrm>
          <a:prstGeom prst="rect">
            <a:avLst/>
          </a:prstGeom>
          <a:noFill/>
        </p:spPr>
        <p:txBody>
          <a:bodyPr wrap="square" anchor="t"/>
          <a:lstStyle/>
          <a:p>
            <a:pPr algn="l"/>
            <a:r>
              <a:rPr sz="1600" b="1" i="0">
                <a:solidFill>
                  <a:srgbClr val="0B2545"/>
                </a:solidFill>
                <a:latin typeface="Calibri"/>
              </a:rPr>
              <a:t>Conçu puis développé</a:t>
            </a:r>
          </a:p>
        </p:txBody>
      </p:sp>
      <p:sp>
        <p:nvSpPr>
          <p:cNvPr id="31" name="TextBox 30"/>
          <p:cNvSpPr txBox="1"/>
          <p:nvPr/>
        </p:nvSpPr>
        <p:spPr>
          <a:xfrm>
            <a:off x="6446520" y="3758184"/>
            <a:ext cx="5193792" cy="658368"/>
          </a:xfrm>
          <a:prstGeom prst="rect">
            <a:avLst/>
          </a:prstGeom>
          <a:noFill/>
        </p:spPr>
        <p:txBody>
          <a:bodyPr wrap="square" anchor="t"/>
          <a:lstStyle/>
          <a:p>
            <a:pPr algn="l"/>
            <a:r>
              <a:rPr sz="1400" b="0" i="0">
                <a:solidFill>
                  <a:srgbClr val="1F2937"/>
                </a:solidFill>
                <a:latin typeface="Calibri"/>
              </a:rPr>
              <a:t>UML validé avant le code, cascade, stage de cinq mois et demi à la DAAG.</a:t>
            </a:r>
          </a:p>
        </p:txBody>
      </p:sp>
      <p:sp>
        <p:nvSpPr>
          <p:cNvPr id="32" name="Rounded Rectangle 31"/>
          <p:cNvSpPr/>
          <p:nvPr/>
        </p:nvSpPr>
        <p:spPr>
          <a:xfrm>
            <a:off x="438912" y="4828032"/>
            <a:ext cx="11292840" cy="1554480"/>
          </a:xfrm>
          <a:prstGeom prst="roundRect">
            <a:avLst>
              <a:gd name="adj" fmla="val 6000"/>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4937760"/>
            <a:ext cx="10881360" cy="292608"/>
          </a:xfrm>
          <a:prstGeom prst="rect">
            <a:avLst/>
          </a:prstGeom>
          <a:noFill/>
        </p:spPr>
        <p:txBody>
          <a:bodyPr wrap="square" anchor="t"/>
          <a:lstStyle/>
          <a:p>
            <a:pPr algn="l"/>
            <a:r>
              <a:rPr sz="1400" b="1" i="0">
                <a:solidFill>
                  <a:srgbClr val="99DDD6"/>
                </a:solidFill>
                <a:latin typeface="Calibri"/>
              </a:rPr>
              <a:t>Vérifications</a:t>
            </a:r>
          </a:p>
        </p:txBody>
      </p:sp>
      <p:sp>
        <p:nvSpPr>
          <p:cNvPr id="34" name="TextBox 33"/>
          <p:cNvSpPr txBox="1"/>
          <p:nvPr/>
        </p:nvSpPr>
        <p:spPr>
          <a:xfrm>
            <a:off x="658368" y="5248656"/>
            <a:ext cx="10881360" cy="960120"/>
          </a:xfrm>
          <a:prstGeom prst="rect">
            <a:avLst/>
          </a:prstGeom>
          <a:noFill/>
        </p:spPr>
        <p:txBody>
          <a:bodyPr wrap="square" anchor="t"/>
          <a:lstStyle/>
          <a:p>
            <a:pPr algn="l"/>
            <a:r>
              <a:rPr sz="1500" b="0" i="0">
                <a:solidFill>
                  <a:srgbClr val="FFFFFF"/>
                </a:solidFill>
                <a:latin typeface="Calibri"/>
              </a:rPr>
              <a:t>Backend : 34 tests unitaires (candidat, concours, lieux, répartition).   Frontend : compilation TypeScript + bundle Vite.   Pas de campagne E2E multi-services.   L'application n'a pas été mise en exploitation au Ministère pendant le stage.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45720" cy="68580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si-logo-crop.png"/>
          <p:cNvPicPr>
            <a:picLocks noChangeAspect="1"/>
          </p:cNvPicPr>
          <p:nvPr/>
        </p:nvPicPr>
        <p:blipFill>
          <a:blip r:embed="rId2"/>
          <a:stretch>
            <a:fillRect/>
          </a:stretch>
        </p:blipFill>
        <p:spPr>
          <a:xfrm>
            <a:off x="384048" y="164592"/>
            <a:ext cx="1769960" cy="384048"/>
          </a:xfrm>
          <a:prstGeom prst="rect">
            <a:avLst/>
          </a:prstGeom>
        </p:spPr>
      </p:pic>
      <p:pic>
        <p:nvPicPr>
          <p:cNvPr id="6" name="Picture 5" descr="mef-logo.png"/>
          <p:cNvPicPr>
            <a:picLocks noChangeAspect="1"/>
          </p:cNvPicPr>
          <p:nvPr/>
        </p:nvPicPr>
        <p:blipFill>
          <a:blip r:embed="rId3"/>
          <a:stretch>
            <a:fillRect/>
          </a:stretch>
        </p:blipFill>
        <p:spPr>
          <a:xfrm>
            <a:off x="10613115" y="128016"/>
            <a:ext cx="1231108" cy="475488"/>
          </a:xfrm>
          <a:prstGeom prst="rect">
            <a:avLst/>
          </a:prstGeom>
        </p:spPr>
      </p:pic>
      <p:sp>
        <p:nvSpPr>
          <p:cNvPr id="7" name="TextBox 6"/>
          <p:cNvSpPr txBox="1"/>
          <p:nvPr/>
        </p:nvSpPr>
        <p:spPr>
          <a:xfrm>
            <a:off x="438912" y="621792"/>
            <a:ext cx="11155680" cy="256032"/>
          </a:xfrm>
          <a:prstGeom prst="rect">
            <a:avLst/>
          </a:prstGeom>
          <a:noFill/>
        </p:spPr>
        <p:txBody>
          <a:bodyPr wrap="square" anchor="t"/>
          <a:lstStyle/>
          <a:p>
            <a:pPr algn="l"/>
            <a:r>
              <a:rPr sz="1200" b="1" i="0">
                <a:solidFill>
                  <a:srgbClr val="008591"/>
                </a:solidFill>
                <a:latin typeface="Calibri"/>
              </a:rPr>
              <a:t>Partie 6  ·  Bilan et perspectives</a:t>
            </a:r>
          </a:p>
        </p:txBody>
      </p:sp>
      <p:sp>
        <p:nvSpPr>
          <p:cNvPr id="8" name="TextBox 7"/>
          <p:cNvSpPr txBox="1"/>
          <p:nvPr/>
        </p:nvSpPr>
        <p:spPr>
          <a:xfrm>
            <a:off x="438912" y="841248"/>
            <a:ext cx="11155680" cy="420624"/>
          </a:xfrm>
          <a:prstGeom prst="rect">
            <a:avLst/>
          </a:prstGeom>
          <a:noFill/>
        </p:spPr>
        <p:txBody>
          <a:bodyPr wrap="square" anchor="t"/>
          <a:lstStyle/>
          <a:p>
            <a:pPr algn="l"/>
            <a:r>
              <a:rPr sz="2600" b="1" i="0">
                <a:solidFill>
                  <a:srgbClr val="0B2545"/>
                </a:solidFill>
                <a:latin typeface="Calibri"/>
              </a:rPr>
              <a:t>Limites assumées et perspectives</a:t>
            </a:r>
          </a:p>
        </p:txBody>
      </p:sp>
      <p:sp>
        <p:nvSpPr>
          <p:cNvPr id="9" name="Rectangle 8"/>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11" name="TextBox 10"/>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28 / 29</a:t>
            </a:r>
          </a:p>
        </p:txBody>
      </p:sp>
      <p:sp>
        <p:nvSpPr>
          <p:cNvPr id="12" name="Rounded Rectangle 11"/>
          <p:cNvSpPr/>
          <p:nvPr/>
        </p:nvSpPr>
        <p:spPr>
          <a:xfrm>
            <a:off x="438912" y="1353312"/>
            <a:ext cx="5596128" cy="5010912"/>
          </a:xfrm>
          <a:prstGeom prst="roundRect">
            <a:avLst>
              <a:gd name="adj" fmla="val 5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 y="1353312"/>
            <a:ext cx="5596128" cy="47548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353312"/>
            <a:ext cx="5596128" cy="475488"/>
          </a:xfrm>
          <a:prstGeom prst="rect">
            <a:avLst/>
          </a:prstGeom>
          <a:noFill/>
        </p:spPr>
        <p:txBody>
          <a:bodyPr wrap="square" anchor="ctr"/>
          <a:lstStyle/>
          <a:p>
            <a:pPr algn="ctr"/>
            <a:r>
              <a:rPr sz="1800" b="1" i="0">
                <a:solidFill>
                  <a:srgbClr val="FFFFFF"/>
                </a:solidFill>
                <a:latin typeface="Calibri"/>
              </a:rPr>
              <a:t>Technique</a:t>
            </a:r>
          </a:p>
        </p:txBody>
      </p:sp>
      <p:sp>
        <p:nvSpPr>
          <p:cNvPr id="15" name="TextBox 14"/>
          <p:cNvSpPr txBox="1"/>
          <p:nvPr/>
        </p:nvSpPr>
        <p:spPr>
          <a:xfrm>
            <a:off x="658368" y="1993392"/>
            <a:ext cx="5166360" cy="4114800"/>
          </a:xfrm>
          <a:prstGeom prst="rect">
            <a:avLst/>
          </a:prstGeom>
          <a:noFill/>
        </p:spPr>
        <p:txBody>
          <a:bodyPr wrap="square">
            <a:spAutoFit/>
          </a:bodyPr>
          <a:lstStyle/>
          <a:p>
            <a:pPr algn="l">
              <a:spcAft>
                <a:spcPts val="1200"/>
              </a:spcAft>
            </a:pPr>
            <a:r>
              <a:rPr sz="1500" b="0" i="0">
                <a:solidFill>
                  <a:srgbClr val="1F2937"/>
                </a:solidFill>
                <a:latin typeface="Calibri"/>
              </a:rPr>
              <a:t>•   Jeton d'accès seul : ajouter un jeton de rafraîchissement.</a:t>
            </a:r>
          </a:p>
          <a:p>
            <a:pPr algn="l">
              <a:spcAft>
                <a:spcPts val="1200"/>
              </a:spcAft>
            </a:pPr>
            <a:r>
              <a:rPr sz="1500" b="0" i="0">
                <a:solidFill>
                  <a:srgbClr val="1F2937"/>
                </a:solidFill>
                <a:latin typeface="Calibri"/>
              </a:rPr>
              <a:t>•   Répartition non atomique : un incident peut laisser des affectations partielles.</a:t>
            </a:r>
          </a:p>
          <a:p>
            <a:pPr algn="l">
              <a:spcAft>
                <a:spcPts val="1200"/>
              </a:spcAft>
            </a:pPr>
            <a:r>
              <a:rPr sz="1500" b="0" i="0">
                <a:solidFill>
                  <a:srgbClr val="1F2937"/>
                </a:solidFill>
                <a:latin typeface="Calibri"/>
              </a:rPr>
              <a:t>•   Envoi via Gmail : passer à une messagerie institutionnelle.</a:t>
            </a:r>
          </a:p>
          <a:p>
            <a:pPr algn="l">
              <a:spcAft>
                <a:spcPts val="1200"/>
              </a:spcAft>
            </a:pPr>
            <a:r>
              <a:rPr sz="1500" b="0" i="0">
                <a:solidFill>
                  <a:srgbClr val="1F2937"/>
                </a:solidFill>
                <a:latin typeface="Calibri"/>
              </a:rPr>
              <a:t>•   Secret JWT partagé : la rotation impose de redéployer les six services.</a:t>
            </a:r>
          </a:p>
        </p:txBody>
      </p:sp>
      <p:sp>
        <p:nvSpPr>
          <p:cNvPr id="16" name="Rounded Rectangle 15"/>
          <p:cNvSpPr/>
          <p:nvPr/>
        </p:nvSpPr>
        <p:spPr>
          <a:xfrm>
            <a:off x="6217920" y="1353312"/>
            <a:ext cx="5532120" cy="5010912"/>
          </a:xfrm>
          <a:prstGeom prst="roundRect">
            <a:avLst>
              <a:gd name="adj" fmla="val 5000"/>
            </a:avLst>
          </a:prstGeom>
          <a:solidFill>
            <a:srgbClr val="F8FAFC"/>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53312"/>
            <a:ext cx="5532120" cy="475488"/>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353312"/>
            <a:ext cx="5532120" cy="475488"/>
          </a:xfrm>
          <a:prstGeom prst="rect">
            <a:avLst/>
          </a:prstGeom>
          <a:noFill/>
        </p:spPr>
        <p:txBody>
          <a:bodyPr wrap="square" anchor="ctr"/>
          <a:lstStyle/>
          <a:p>
            <a:pPr algn="ctr"/>
            <a:r>
              <a:rPr sz="1800" b="1" i="0">
                <a:solidFill>
                  <a:srgbClr val="FFFFFF"/>
                </a:solidFill>
                <a:latin typeface="Calibri"/>
              </a:rPr>
              <a:t>Métier et exploitation</a:t>
            </a:r>
          </a:p>
        </p:txBody>
      </p:sp>
      <p:sp>
        <p:nvSpPr>
          <p:cNvPr id="19" name="TextBox 18"/>
          <p:cNvSpPr txBox="1"/>
          <p:nvPr/>
        </p:nvSpPr>
        <p:spPr>
          <a:xfrm>
            <a:off x="6437376" y="1993392"/>
            <a:ext cx="5102352" cy="4114800"/>
          </a:xfrm>
          <a:prstGeom prst="rect">
            <a:avLst/>
          </a:prstGeom>
          <a:noFill/>
        </p:spPr>
        <p:txBody>
          <a:bodyPr wrap="square">
            <a:spAutoFit/>
          </a:bodyPr>
          <a:lstStyle/>
          <a:p>
            <a:pPr algn="l">
              <a:spcAft>
                <a:spcPts val="1200"/>
              </a:spcAft>
            </a:pPr>
            <a:r>
              <a:rPr sz="1500" b="0" i="0">
                <a:solidFill>
                  <a:srgbClr val="1F2937"/>
                </a:solidFill>
                <a:latin typeface="Calibri"/>
              </a:rPr>
              <a:t>•   Espace candidat : consulter / télécharger sa convocation, sans inscription en ligne.</a:t>
            </a:r>
          </a:p>
          <a:p>
            <a:pPr algn="l">
              <a:spcAft>
                <a:spcPts val="1200"/>
              </a:spcAft>
            </a:pPr>
            <a:r>
              <a:rPr sz="1500" b="0" i="0">
                <a:solidFill>
                  <a:srgbClr val="1F2937"/>
                </a:solidFill>
                <a:latin typeface="Calibri"/>
              </a:rPr>
              <a:t>•   Mise en exploitation au Ministère : déploiement, tests complémentaires, formation.</a:t>
            </a:r>
          </a:p>
          <a:p>
            <a:pPr algn="l">
              <a:spcAft>
                <a:spcPts val="1200"/>
              </a:spcAft>
            </a:pPr>
            <a:r>
              <a:rPr sz="1500" b="0" i="0">
                <a:solidFill>
                  <a:srgbClr val="1F2937"/>
                </a:solidFill>
                <a:latin typeface="Calibri"/>
              </a:rPr>
              <a:t>•   Respect des règles de sécurité de l'administration.</a:t>
            </a:r>
          </a:p>
          <a:p>
            <a:pPr algn="l">
              <a:spcAft>
                <a:spcPts val="1200"/>
              </a:spcAft>
            </a:pPr>
            <a:r>
              <a:rPr sz="1500" b="0" i="0">
                <a:solidFill>
                  <a:srgbClr val="1F2937"/>
                </a:solidFill>
                <a:latin typeface="Calibri"/>
              </a:rPr>
              <a:t>•   Le périmètre actuel reste l'organisation matérielle des épreuves.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msi-logo-crop.png"/>
          <p:cNvPicPr>
            <a:picLocks noChangeAspect="1"/>
          </p:cNvPicPr>
          <p:nvPr/>
        </p:nvPicPr>
        <p:blipFill>
          <a:blip r:embed="rId2"/>
          <a:stretch>
            <a:fillRect/>
          </a:stretch>
        </p:blipFill>
        <p:spPr>
          <a:xfrm>
            <a:off x="411480" y="292608"/>
            <a:ext cx="2444231" cy="530352"/>
          </a:xfrm>
          <a:prstGeom prst="rect">
            <a:avLst/>
          </a:prstGeom>
        </p:spPr>
      </p:pic>
      <p:pic>
        <p:nvPicPr>
          <p:cNvPr id="5" name="Picture 4" descr="mef-logo.png"/>
          <p:cNvPicPr>
            <a:picLocks noChangeAspect="1"/>
          </p:cNvPicPr>
          <p:nvPr/>
        </p:nvPicPr>
        <p:blipFill>
          <a:blip r:embed="rId3"/>
          <a:stretch>
            <a:fillRect/>
          </a:stretch>
        </p:blipFill>
        <p:spPr>
          <a:xfrm>
            <a:off x="9960985" y="201168"/>
            <a:ext cx="1846663" cy="713232"/>
          </a:xfrm>
          <a:prstGeom prst="rect">
            <a:avLst/>
          </a:prstGeom>
        </p:spPr>
      </p:pic>
      <p:sp>
        <p:nvSpPr>
          <p:cNvPr id="6" name="Rectangle 5"/>
          <p:cNvSpPr/>
          <p:nvPr/>
        </p:nvSpPr>
        <p:spPr>
          <a:xfrm>
            <a:off x="0" y="1078992"/>
            <a:ext cx="12191695" cy="54864"/>
          </a:xfrm>
          <a:prstGeom prst="rect">
            <a:avLst/>
          </a:prstGeom>
          <a:solidFill>
            <a:srgbClr val="22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10972800" cy="365760"/>
          </a:xfrm>
          <a:prstGeom prst="rect">
            <a:avLst/>
          </a:prstGeom>
          <a:noFill/>
        </p:spPr>
        <p:txBody>
          <a:bodyPr wrap="square" anchor="t"/>
          <a:lstStyle/>
          <a:p>
            <a:pPr algn="ctr"/>
            <a:r>
              <a:rPr sz="1600" b="0" i="0">
                <a:solidFill>
                  <a:srgbClr val="99DDD6"/>
                </a:solidFill>
                <a:latin typeface="Calibri"/>
              </a:rPr>
              <a:t>Soutenance PFE  ·  14 septembre 2026</a:t>
            </a:r>
          </a:p>
        </p:txBody>
      </p:sp>
      <p:sp>
        <p:nvSpPr>
          <p:cNvPr id="8" name="TextBox 7"/>
          <p:cNvSpPr txBox="1"/>
          <p:nvPr/>
        </p:nvSpPr>
        <p:spPr>
          <a:xfrm>
            <a:off x="640080" y="2240280"/>
            <a:ext cx="10972800" cy="1005840"/>
          </a:xfrm>
          <a:prstGeom prst="rect">
            <a:avLst/>
          </a:prstGeom>
          <a:noFill/>
        </p:spPr>
        <p:txBody>
          <a:bodyPr wrap="square" anchor="t"/>
          <a:lstStyle/>
          <a:p>
            <a:pPr algn="ctr"/>
            <a:r>
              <a:rPr sz="4000" b="1" i="0">
                <a:solidFill>
                  <a:srgbClr val="FFFFFF"/>
                </a:solidFill>
                <a:latin typeface="Calibri"/>
              </a:rPr>
              <a:t>Merci de votre attention</a:t>
            </a:r>
          </a:p>
        </p:txBody>
      </p:sp>
      <p:sp>
        <p:nvSpPr>
          <p:cNvPr id="9" name="TextBox 8"/>
          <p:cNvSpPr txBox="1"/>
          <p:nvPr/>
        </p:nvSpPr>
        <p:spPr>
          <a:xfrm>
            <a:off x="640080" y="3246120"/>
            <a:ext cx="10972800" cy="502920"/>
          </a:xfrm>
          <a:prstGeom prst="rect">
            <a:avLst/>
          </a:prstGeom>
          <a:noFill/>
        </p:spPr>
        <p:txBody>
          <a:bodyPr wrap="square" anchor="t"/>
          <a:lstStyle/>
          <a:p>
            <a:pPr algn="ctr"/>
            <a:r>
              <a:rPr sz="2000" b="0" i="0">
                <a:solidFill>
                  <a:srgbClr val="FFFFFF"/>
                </a:solidFill>
                <a:latin typeface="Calibri"/>
              </a:rPr>
              <a:t>Je reste à votre disposition pour vos questions.</a:t>
            </a:r>
          </a:p>
        </p:txBody>
      </p:sp>
      <p:sp>
        <p:nvSpPr>
          <p:cNvPr id="10" name="Rounded Rectangle 9"/>
          <p:cNvSpPr/>
          <p:nvPr/>
        </p:nvSpPr>
        <p:spPr>
          <a:xfrm>
            <a:off x="640080" y="4114800"/>
            <a:ext cx="2651760" cy="1325880"/>
          </a:xfrm>
          <a:prstGeom prst="roundRect">
            <a:avLst>
              <a:gd name="adj" fmla="val 12000"/>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24528"/>
            <a:ext cx="2468880" cy="320040"/>
          </a:xfrm>
          <a:prstGeom prst="rect">
            <a:avLst/>
          </a:prstGeom>
          <a:noFill/>
        </p:spPr>
        <p:txBody>
          <a:bodyPr wrap="square" anchor="t"/>
          <a:lstStyle/>
          <a:p>
            <a:pPr algn="ctr"/>
            <a:r>
              <a:rPr sz="1200" b="1" i="0">
                <a:solidFill>
                  <a:srgbClr val="008591"/>
                </a:solidFill>
                <a:latin typeface="Calibri"/>
              </a:rPr>
              <a:t>Réalisé par</a:t>
            </a:r>
          </a:p>
        </p:txBody>
      </p:sp>
      <p:sp>
        <p:nvSpPr>
          <p:cNvPr id="12" name="TextBox 11"/>
          <p:cNvSpPr txBox="1"/>
          <p:nvPr/>
        </p:nvSpPr>
        <p:spPr>
          <a:xfrm>
            <a:off x="731520" y="4572000"/>
            <a:ext cx="2468880" cy="658368"/>
          </a:xfrm>
          <a:prstGeom prst="rect">
            <a:avLst/>
          </a:prstGeom>
          <a:noFill/>
        </p:spPr>
        <p:txBody>
          <a:bodyPr wrap="square" anchor="t"/>
          <a:lstStyle/>
          <a:p>
            <a:pPr algn="ctr"/>
            <a:r>
              <a:rPr sz="1500" b="1" i="0">
                <a:solidFill>
                  <a:srgbClr val="FFFFFF"/>
                </a:solidFill>
                <a:latin typeface="Calibri"/>
              </a:rPr>
              <a:t>ETTAHIRI Mouad</a:t>
            </a:r>
          </a:p>
        </p:txBody>
      </p:sp>
      <p:sp>
        <p:nvSpPr>
          <p:cNvPr id="13" name="Rounded Rectangle 12"/>
          <p:cNvSpPr/>
          <p:nvPr/>
        </p:nvSpPr>
        <p:spPr>
          <a:xfrm>
            <a:off x="3474720" y="4114800"/>
            <a:ext cx="2651760" cy="1325880"/>
          </a:xfrm>
          <a:prstGeom prst="roundRect">
            <a:avLst>
              <a:gd name="adj" fmla="val 12000"/>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4224528"/>
            <a:ext cx="2468880" cy="320040"/>
          </a:xfrm>
          <a:prstGeom prst="rect">
            <a:avLst/>
          </a:prstGeom>
          <a:noFill/>
        </p:spPr>
        <p:txBody>
          <a:bodyPr wrap="square" anchor="t"/>
          <a:lstStyle/>
          <a:p>
            <a:pPr algn="ctr"/>
            <a:r>
              <a:rPr sz="1200" b="1" i="0">
                <a:solidFill>
                  <a:srgbClr val="008591"/>
                </a:solidFill>
                <a:latin typeface="Calibri"/>
              </a:rPr>
              <a:t>Tuteur école</a:t>
            </a:r>
          </a:p>
        </p:txBody>
      </p:sp>
      <p:sp>
        <p:nvSpPr>
          <p:cNvPr id="15" name="TextBox 14"/>
          <p:cNvSpPr txBox="1"/>
          <p:nvPr/>
        </p:nvSpPr>
        <p:spPr>
          <a:xfrm>
            <a:off x="3566160" y="4572000"/>
            <a:ext cx="2468880" cy="658368"/>
          </a:xfrm>
          <a:prstGeom prst="rect">
            <a:avLst/>
          </a:prstGeom>
          <a:noFill/>
        </p:spPr>
        <p:txBody>
          <a:bodyPr wrap="square" anchor="t"/>
          <a:lstStyle/>
          <a:p>
            <a:pPr algn="ctr"/>
            <a:r>
              <a:rPr sz="1500" b="1" i="0">
                <a:solidFill>
                  <a:srgbClr val="FFFFFF"/>
                </a:solidFill>
                <a:latin typeface="Calibri"/>
              </a:rPr>
              <a:t>Pr. Imane Hilal</a:t>
            </a:r>
          </a:p>
        </p:txBody>
      </p:sp>
      <p:sp>
        <p:nvSpPr>
          <p:cNvPr id="16" name="Rounded Rectangle 15"/>
          <p:cNvSpPr/>
          <p:nvPr/>
        </p:nvSpPr>
        <p:spPr>
          <a:xfrm>
            <a:off x="6309360" y="4114800"/>
            <a:ext cx="2651760" cy="1325880"/>
          </a:xfrm>
          <a:prstGeom prst="roundRect">
            <a:avLst>
              <a:gd name="adj" fmla="val 12000"/>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224528"/>
            <a:ext cx="2468880" cy="320040"/>
          </a:xfrm>
          <a:prstGeom prst="rect">
            <a:avLst/>
          </a:prstGeom>
          <a:noFill/>
        </p:spPr>
        <p:txBody>
          <a:bodyPr wrap="square" anchor="t"/>
          <a:lstStyle/>
          <a:p>
            <a:pPr algn="ctr"/>
            <a:r>
              <a:rPr sz="1200" b="1" i="0">
                <a:solidFill>
                  <a:srgbClr val="008591"/>
                </a:solidFill>
                <a:latin typeface="Calibri"/>
              </a:rPr>
              <a:t>Tuteur stage</a:t>
            </a:r>
          </a:p>
        </p:txBody>
      </p:sp>
      <p:sp>
        <p:nvSpPr>
          <p:cNvPr id="18" name="TextBox 17"/>
          <p:cNvSpPr txBox="1"/>
          <p:nvPr/>
        </p:nvSpPr>
        <p:spPr>
          <a:xfrm>
            <a:off x="6400800" y="4572000"/>
            <a:ext cx="2468880" cy="658368"/>
          </a:xfrm>
          <a:prstGeom prst="rect">
            <a:avLst/>
          </a:prstGeom>
          <a:noFill/>
        </p:spPr>
        <p:txBody>
          <a:bodyPr wrap="square" anchor="t"/>
          <a:lstStyle/>
          <a:p>
            <a:pPr algn="ctr"/>
            <a:r>
              <a:rPr sz="1500" b="1" i="0">
                <a:solidFill>
                  <a:srgbClr val="FFFFFF"/>
                </a:solidFill>
                <a:latin typeface="Calibri"/>
              </a:rPr>
              <a:t>M. Tarik Lakhbizi</a:t>
            </a:r>
          </a:p>
        </p:txBody>
      </p:sp>
      <p:sp>
        <p:nvSpPr>
          <p:cNvPr id="19" name="Rounded Rectangle 18"/>
          <p:cNvSpPr/>
          <p:nvPr/>
        </p:nvSpPr>
        <p:spPr>
          <a:xfrm>
            <a:off x="9144000" y="4114800"/>
            <a:ext cx="2651760" cy="1325880"/>
          </a:xfrm>
          <a:prstGeom prst="roundRect">
            <a:avLst>
              <a:gd name="adj" fmla="val 12000"/>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4224528"/>
            <a:ext cx="2468880" cy="320040"/>
          </a:xfrm>
          <a:prstGeom prst="rect">
            <a:avLst/>
          </a:prstGeom>
          <a:noFill/>
        </p:spPr>
        <p:txBody>
          <a:bodyPr wrap="square" anchor="t"/>
          <a:lstStyle/>
          <a:p>
            <a:pPr algn="ctr"/>
            <a:r>
              <a:rPr sz="1200" b="1" i="0">
                <a:solidFill>
                  <a:srgbClr val="008591"/>
                </a:solidFill>
                <a:latin typeface="Calibri"/>
              </a:rPr>
              <a:t>Organisme</a:t>
            </a:r>
          </a:p>
        </p:txBody>
      </p:sp>
      <p:sp>
        <p:nvSpPr>
          <p:cNvPr id="21" name="TextBox 20"/>
          <p:cNvSpPr txBox="1"/>
          <p:nvPr/>
        </p:nvSpPr>
        <p:spPr>
          <a:xfrm>
            <a:off x="9235440" y="4572000"/>
            <a:ext cx="2468880" cy="658368"/>
          </a:xfrm>
          <a:prstGeom prst="rect">
            <a:avLst/>
          </a:prstGeom>
          <a:noFill/>
        </p:spPr>
        <p:txBody>
          <a:bodyPr wrap="square" anchor="t"/>
          <a:lstStyle/>
          <a:p>
            <a:pPr algn="ctr"/>
            <a:r>
              <a:rPr sz="1500" b="1" i="0">
                <a:solidFill>
                  <a:srgbClr val="FFFFFF"/>
                </a:solidFill>
                <a:latin typeface="Calibri"/>
              </a:rPr>
              <a:t>MEF  ·  DAAG</a:t>
            </a:r>
          </a:p>
        </p:txBody>
      </p:sp>
      <p:sp>
        <p:nvSpPr>
          <p:cNvPr id="22" name="TextBox 21"/>
          <p:cNvSpPr txBox="1"/>
          <p:nvPr/>
        </p:nvSpPr>
        <p:spPr>
          <a:xfrm>
            <a:off x="640080" y="5669280"/>
            <a:ext cx="10972800" cy="411480"/>
          </a:xfrm>
          <a:prstGeom prst="rect">
            <a:avLst/>
          </a:prstGeom>
          <a:noFill/>
        </p:spPr>
        <p:txBody>
          <a:bodyPr wrap="square" anchor="t"/>
          <a:lstStyle/>
          <a:p>
            <a:pPr algn="ctr"/>
            <a:r>
              <a:rPr sz="1400" b="0" i="0">
                <a:solidFill>
                  <a:srgbClr val="B4C6DC"/>
                </a:solidFill>
                <a:latin typeface="Calibri"/>
              </a:rPr>
              <a:t>EMSI Rabat  ·  Ingénierie Informatique et Réseaux  ·  Option MIAGE</a:t>
            </a:r>
          </a:p>
        </p:txBody>
      </p:sp>
      <p:sp>
        <p:nvSpPr>
          <p:cNvPr id="23" name="Rectangle 22"/>
          <p:cNvSpPr/>
          <p:nvPr/>
        </p:nvSpPr>
        <p:spPr>
          <a:xfrm>
            <a:off x="0" y="6656832"/>
            <a:ext cx="12191695" cy="20116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656832"/>
            <a:ext cx="8961120" cy="201168"/>
          </a:xfrm>
          <a:prstGeom prst="rect">
            <a:avLst/>
          </a:prstGeom>
          <a:noFill/>
        </p:spPr>
        <p:txBody>
          <a:bodyPr wrap="square" anchor="ctr"/>
          <a:lstStyle/>
          <a:p>
            <a:pPr algn="l"/>
            <a:r>
              <a:rPr sz="1000" b="0" i="0">
                <a:solidFill>
                  <a:srgbClr val="FFFFFF"/>
                </a:solidFill>
                <a:latin typeface="Calibri"/>
              </a:rPr>
              <a:t>Soutenance PFE  ·  14 septembre 2026  ·  ETTAHIRI Mouad  ·  EMSI  ·  MEF</a:t>
            </a:r>
          </a:p>
        </p:txBody>
      </p:sp>
      <p:sp>
        <p:nvSpPr>
          <p:cNvPr id="25" name="TextBox 24"/>
          <p:cNvSpPr txBox="1"/>
          <p:nvPr/>
        </p:nvSpPr>
        <p:spPr>
          <a:xfrm>
            <a:off x="10424160" y="6656832"/>
            <a:ext cx="1371600" cy="201168"/>
          </a:xfrm>
          <a:prstGeom prst="rect">
            <a:avLst/>
          </a:prstGeom>
          <a:noFill/>
        </p:spPr>
        <p:txBody>
          <a:bodyPr wrap="square" anchor="ctr"/>
          <a:lstStyle/>
          <a:p>
            <a:pPr algn="r"/>
            <a:r>
              <a:rPr sz="1000" b="0" i="0">
                <a:solidFill>
                  <a:srgbClr val="FFFFFF"/>
                </a:solidFill>
                <a:latin typeface="Calibri"/>
              </a:rPr>
              <a:t>29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